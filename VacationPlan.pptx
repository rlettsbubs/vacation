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Package total (2 people)</c:v>
                </c:pt>
              </c:strCache>
            </c:strRef>
          </c:tx>
          <c:spPr>
            <a:solidFill>
              <a:srgbClr val="1C7293">
                <a:alpha val="100000"/>
              </a:srgbClr>
            </a:solidFill>
            <a:effectLst/>
          </c:spPr>
          <c:invertIfNegative val="0"/>
          <c:dLbls>
            <c:numFmt formatCode="$#,##0" sourceLinked="0"/>
            <c:txPr>
              <a:bodyPr/>
              <a:lstStyle/>
              <a:p>
                <a:pPr>
                  <a:defRPr b="0" i="0" strike="noStrike" sz="1200" u="none">
                    <a:solidFill>
                      <a:srgbClr val="1A2B3C"/>
                    </a:solidFill>
                    <a:latin typeface="Calibri"/>
                  </a:defRPr>
                </a:pPr>
              </a:p>
            </c:txPr>
            <c:showLegendKey val="0"/>
            <c:showVal val="1"/>
            <c:showCatName val="0"/>
            <c:showSerName val="0"/>
            <c:showPercent val="0"/>
            <c:showBubbleSize val="0"/>
            <c:showLeaderLines val="0"/>
          </c:dLbls>
          <c:dPt>
            <c:idx val="0"/>
            <c:invertIfNegative val="0"/>
            <c:bubble3D val="0"/>
            <c:spPr>
              <a:solidFill>
                <a:srgbClr val="1C7293"/>
              </a:solidFill>
              <a:effectLst/>
            </c:spPr>
          </c:dPt>
          <c:dPt>
            <c:idx val="1"/>
            <c:invertIfNegative val="0"/>
            <c:bubble3D val="0"/>
            <c:spPr>
              <a:solidFill>
                <a:srgbClr val="1C7293"/>
              </a:solidFill>
              <a:effectLst/>
            </c:spPr>
          </c:dPt>
          <c:dPt>
            <c:idx val="2"/>
            <c:invertIfNegative val="0"/>
            <c:bubble3D val="0"/>
            <c:spPr>
              <a:solidFill>
                <a:srgbClr val="1C7293"/>
              </a:solidFill>
              <a:effectLst/>
            </c:spPr>
          </c:dPt>
          <c:dPt>
            <c:idx val="3"/>
            <c:invertIfNegative val="0"/>
            <c:bubble3D val="0"/>
            <c:spPr>
              <a:solidFill>
                <a:srgbClr val="1C7293"/>
              </a:solidFill>
              <a:effectLst/>
            </c:spPr>
          </c:dPt>
          <c:dPt>
            <c:idx val="4"/>
            <c:invertIfNegative val="0"/>
            <c:bubble3D val="0"/>
            <c:spPr>
              <a:solidFill>
                <a:srgbClr val="F96167"/>
              </a:solidFill>
              <a:effectLst/>
            </c:spPr>
          </c:dPt>
          <c:dPt>
            <c:idx val="5"/>
            <c:invertIfNegative val="0"/>
            <c:bubble3D val="0"/>
            <c:spPr>
              <a:solidFill>
                <a:srgbClr val="F96167"/>
              </a:solidFill>
              <a:effectLst/>
            </c:spPr>
          </c:dPt>
          <c:cat>
            <c:multiLvlStrRef>
              <c:f>Sheet1!$A$2:$A$7</c:f>
              <c:multiLvlStrCache>
                <c:ptCount val="6"/>
                <c:lvl>
                  <c:pt idx="0">
                    <c:v>Cancun / Riviera Maya</c:v>
                  </c:pt>
                  <c:pt idx="1">
                    <c:v>Punta Cana</c:v>
                  </c:pt>
                  <c:pt idx="2">
                    <c:v>Montego Bay</c:v>
                  </c:pt>
                  <c:pt idx="3">
                    <c:v>Nassau</c:v>
                  </c:pt>
                  <c:pt idx="4">
                    <c:v>Curaçao</c:v>
                  </c:pt>
                  <c:pt idx="5">
                    <c:v>Aruba</c:v>
                  </c:pt>
                </c:lvl>
              </c:multiLvlStrCache>
            </c:multiLvlStrRef>
          </c:cat>
          <c:val>
            <c:numRef>
              <c:f>Sheet1!$B$2:$B$7</c:f>
              <c:numCache>
                <c:formatCode>General</c:formatCode>
                <c:ptCount val="6"/>
                <c:pt idx="0">
                  <c:v>2134</c:v>
                </c:pt>
                <c:pt idx="1">
                  <c:v>2174</c:v>
                </c:pt>
                <c:pt idx="2">
                  <c:v>2906</c:v>
                </c:pt>
                <c:pt idx="3">
                  <c:v>3408</c:v>
                </c:pt>
                <c:pt idx="4">
                  <c:v>4632</c:v>
                </c:pt>
                <c:pt idx="5">
                  <c:v>5972</c:v>
                </c:pt>
              </c:numCache>
            </c:numRef>
          </c:val>
        </c:ser>
        <c:dLbls>
          <c:numFmt formatCode="$#,##0" sourceLinked="0"/>
          <c:txPr>
            <a:bodyPr/>
            <a:lstStyle/>
            <a:p>
              <a:pPr>
                <a:defRPr b="0" i="0" strike="noStrike" sz="1200" u="none">
                  <a:solidFill>
                    <a:srgbClr val="1A2B3C"/>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A2B3C"/>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3E9EF"/>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A8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1920240"/>
            <a:ext cx="10515600" cy="118872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CRYSTAL CLEAR</a:t>
            </a:r>
            <a:endParaRPr lang="en-US" sz="6400" dirty="0"/>
          </a:p>
        </p:txBody>
      </p:sp>
      <p:sp>
        <p:nvSpPr>
          <p:cNvPr id="3" name="Text 1"/>
          <p:cNvSpPr/>
          <p:nvPr/>
        </p:nvSpPr>
        <p:spPr>
          <a:xfrm>
            <a:off x="822960" y="3108960"/>
            <a:ext cx="10515600" cy="548640"/>
          </a:xfrm>
          <a:prstGeom prst="rect">
            <a:avLst/>
          </a:prstGeom>
          <a:noFill/>
          <a:ln/>
        </p:spPr>
        <p:txBody>
          <a:bodyPr wrap="square" lIns="0" tIns="0" rIns="0" bIns="0" rtlCol="0" anchor="ctr"/>
          <a:lstStyle/>
          <a:p>
            <a:pPr indent="0" marL="0">
              <a:buNone/>
            </a:pPr>
            <a:r>
              <a:rPr lang="en-US" sz="2400" dirty="0">
                <a:solidFill>
                  <a:srgbClr val="CADCFC"/>
                </a:solidFill>
                <a:latin typeface="Calibri" pitchFamily="34" charset="0"/>
                <a:ea typeface="Calibri" pitchFamily="34" charset="-122"/>
                <a:cs typeface="Calibri" pitchFamily="34" charset="-120"/>
              </a:rPr>
              <a:t>The vacation plan — you + GF</a:t>
            </a:r>
            <a:endParaRPr lang="en-US" sz="2400" dirty="0"/>
          </a:p>
        </p:txBody>
      </p:sp>
      <p:sp>
        <p:nvSpPr>
          <p:cNvPr id="4" name="Text 2"/>
          <p:cNvSpPr/>
          <p:nvPr/>
        </p:nvSpPr>
        <p:spPr>
          <a:xfrm>
            <a:off x="822960" y="370332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7 nights · all-inclusive · crystal-clear beaches · short flights from Detroit · Aug 2026</a:t>
            </a:r>
            <a:endParaRPr lang="en-US" sz="1600" dirty="0"/>
          </a:p>
        </p:txBody>
      </p:sp>
      <p:sp>
        <p:nvSpPr>
          <p:cNvPr id="5" name="Text 3"/>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i="1" dirty="0">
                <a:solidFill>
                  <a:srgbClr val="8FB8D8"/>
                </a:solidFill>
                <a:latin typeface="Calibri" pitchFamily="34" charset="0"/>
                <a:ea typeface="Calibri" pitchFamily="34" charset="-122"/>
                <a:cs typeface="Calibri" pitchFamily="34" charset="-120"/>
              </a:rPr>
              <a:t>Built from 89 live price checks across 5 booking sites · 14 destinations · deep conditions research (USF / CSU / NOAA) · 2026-07-17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The story so far</a:t>
            </a:r>
            <a:endParaRPr lang="en-US" sz="3400" dirty="0"/>
          </a:p>
        </p:txBody>
      </p:sp>
      <p:sp>
        <p:nvSpPr>
          <p:cNvPr id="3" name="Shape 1"/>
          <p:cNvSpPr/>
          <p:nvPr/>
        </p:nvSpPr>
        <p:spPr>
          <a:xfrm>
            <a:off x="548640" y="1463040"/>
            <a:ext cx="3520440" cy="3017520"/>
          </a:xfrm>
          <a:prstGeom prst="roundRect">
            <a:avLst>
              <a:gd name="adj" fmla="val 3636"/>
            </a:avLst>
          </a:prstGeom>
          <a:solidFill>
            <a:srgbClr val="F4EFE6"/>
          </a:solidFill>
          <a:ln/>
        </p:spPr>
      </p:sp>
      <p:sp>
        <p:nvSpPr>
          <p:cNvPr id="4" name="Shape 2"/>
          <p:cNvSpPr/>
          <p:nvPr/>
        </p:nvSpPr>
        <p:spPr>
          <a:xfrm>
            <a:off x="777240" y="1737360"/>
            <a:ext cx="566928" cy="566928"/>
          </a:xfrm>
          <a:prstGeom prst="ellipse">
            <a:avLst/>
          </a:prstGeom>
          <a:solidFill>
            <a:srgbClr val="065A82"/>
          </a:solidFill>
          <a:ln/>
        </p:spPr>
      </p:sp>
      <p:sp>
        <p:nvSpPr>
          <p:cNvPr id="5" name="Text 3"/>
          <p:cNvSpPr/>
          <p:nvPr/>
        </p:nvSpPr>
        <p:spPr>
          <a:xfrm>
            <a:off x="777240" y="17373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777240" y="2514600"/>
            <a:ext cx="3063240" cy="457200"/>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Scouted Aruba</a:t>
            </a:r>
            <a:endParaRPr lang="en-US" sz="1800" dirty="0"/>
          </a:p>
        </p:txBody>
      </p:sp>
      <p:sp>
        <p:nvSpPr>
          <p:cNvPr id="7" name="Text 5"/>
          <p:cNvSpPr/>
          <p:nvPr/>
        </p:nvSpPr>
        <p:spPr>
          <a:xfrm>
            <a:off x="777240" y="3017520"/>
            <a:ext cx="3063240" cy="1325880"/>
          </a:xfrm>
          <a:prstGeom prst="rect">
            <a:avLst/>
          </a:prstGeom>
          <a:noFill/>
          <a:ln/>
        </p:spPr>
        <p:txBody>
          <a:bodyPr wrap="square" lIns="0" tIns="0" rIns="0" bIns="0" rtlCol="0" anchor="ctr"/>
          <a:lstStyle/>
          <a:p>
            <a:pPr indent="0" marL="0">
              <a:buNone/>
            </a:pPr>
            <a:r>
              <a:rPr lang="en-US" sz="1300" dirty="0">
                <a:solidFill>
                  <a:srgbClr val="1A2B3C"/>
                </a:solidFill>
                <a:latin typeface="Calibri" pitchFamily="34" charset="0"/>
                <a:ea typeface="Calibri" pitchFamily="34" charset="-122"/>
                <a:cs typeface="Calibri" pitchFamily="34" charset="-120"/>
              </a:rPr>
              <a:t>Your original target. Riu Palace Aruba, Antillas, Barceló — flights, packages, hotel-only, all logged to a price database.</a:t>
            </a:r>
            <a:endParaRPr lang="en-US" sz="1300" dirty="0"/>
          </a:p>
        </p:txBody>
      </p:sp>
      <p:sp>
        <p:nvSpPr>
          <p:cNvPr id="8" name="Shape 6"/>
          <p:cNvSpPr/>
          <p:nvPr/>
        </p:nvSpPr>
        <p:spPr>
          <a:xfrm>
            <a:off x="4343400" y="1463040"/>
            <a:ext cx="3520440" cy="3017520"/>
          </a:xfrm>
          <a:prstGeom prst="roundRect">
            <a:avLst>
              <a:gd name="adj" fmla="val 3636"/>
            </a:avLst>
          </a:prstGeom>
          <a:solidFill>
            <a:srgbClr val="F4EFE6"/>
          </a:solidFill>
          <a:ln/>
        </p:spPr>
      </p:sp>
      <p:sp>
        <p:nvSpPr>
          <p:cNvPr id="9" name="Shape 7"/>
          <p:cNvSpPr/>
          <p:nvPr/>
        </p:nvSpPr>
        <p:spPr>
          <a:xfrm>
            <a:off x="4572000" y="1737360"/>
            <a:ext cx="566928" cy="566928"/>
          </a:xfrm>
          <a:prstGeom prst="ellipse">
            <a:avLst/>
          </a:prstGeom>
          <a:solidFill>
            <a:srgbClr val="065A82"/>
          </a:solidFill>
          <a:ln/>
        </p:spPr>
      </p:sp>
      <p:sp>
        <p:nvSpPr>
          <p:cNvPr id="10" name="Text 8"/>
          <p:cNvSpPr/>
          <p:nvPr/>
        </p:nvSpPr>
        <p:spPr>
          <a:xfrm>
            <a:off x="4572000" y="17373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4572000" y="2514600"/>
            <a:ext cx="3063240" cy="457200"/>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Everything came back RED</a:t>
            </a:r>
            <a:endParaRPr lang="en-US" sz="1800" dirty="0"/>
          </a:p>
        </p:txBody>
      </p:sp>
      <p:sp>
        <p:nvSpPr>
          <p:cNvPr id="12" name="Text 10"/>
          <p:cNvSpPr/>
          <p:nvPr/>
        </p:nvSpPr>
        <p:spPr>
          <a:xfrm>
            <a:off x="4572000" y="3017520"/>
            <a:ext cx="3063240" cy="1325880"/>
          </a:xfrm>
          <a:prstGeom prst="rect">
            <a:avLst/>
          </a:prstGeom>
          <a:noFill/>
          <a:ln/>
        </p:spPr>
        <p:txBody>
          <a:bodyPr wrap="square" lIns="0" tIns="0" rIns="0" bIns="0" rtlCol="0" anchor="ctr"/>
          <a:lstStyle/>
          <a:p>
            <a:pPr indent="0" marL="0">
              <a:buNone/>
            </a:pPr>
            <a:r>
              <a:rPr lang="en-US" sz="1300" dirty="0">
                <a:solidFill>
                  <a:srgbClr val="1A2B3C"/>
                </a:solidFill>
                <a:latin typeface="Calibri" pitchFamily="34" charset="0"/>
                <a:ea typeface="Calibri" pitchFamily="34" charset="-122"/>
                <a:cs typeface="Calibri" pitchFamily="34" charset="-120"/>
              </a:rPr>
              <a:t>August Aruba prices are objectively bad — Google Flights itself flags them “currently high.” Best complete trip: $5,972.</a:t>
            </a:r>
            <a:endParaRPr lang="en-US" sz="1300" dirty="0"/>
          </a:p>
        </p:txBody>
      </p:sp>
      <p:sp>
        <p:nvSpPr>
          <p:cNvPr id="13" name="Shape 11"/>
          <p:cNvSpPr/>
          <p:nvPr/>
        </p:nvSpPr>
        <p:spPr>
          <a:xfrm>
            <a:off x="8138160" y="1463040"/>
            <a:ext cx="3520440" cy="3017520"/>
          </a:xfrm>
          <a:prstGeom prst="roundRect">
            <a:avLst>
              <a:gd name="adj" fmla="val 3636"/>
            </a:avLst>
          </a:prstGeom>
          <a:solidFill>
            <a:srgbClr val="F4EFE6"/>
          </a:solidFill>
          <a:ln/>
        </p:spPr>
      </p:sp>
      <p:sp>
        <p:nvSpPr>
          <p:cNvPr id="14" name="Shape 12"/>
          <p:cNvSpPr/>
          <p:nvPr/>
        </p:nvSpPr>
        <p:spPr>
          <a:xfrm>
            <a:off x="8366760" y="1737360"/>
            <a:ext cx="566928" cy="566928"/>
          </a:xfrm>
          <a:prstGeom prst="ellipse">
            <a:avLst/>
          </a:prstGeom>
          <a:solidFill>
            <a:srgbClr val="065A82"/>
          </a:solidFill>
          <a:ln/>
        </p:spPr>
      </p:sp>
      <p:sp>
        <p:nvSpPr>
          <p:cNvPr id="15" name="Text 13"/>
          <p:cNvSpPr/>
          <p:nvPr/>
        </p:nvSpPr>
        <p:spPr>
          <a:xfrm>
            <a:off x="8366760" y="1737360"/>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4"/>
          <p:cNvSpPr/>
          <p:nvPr/>
        </p:nvSpPr>
        <p:spPr>
          <a:xfrm>
            <a:off x="8366760" y="2514600"/>
            <a:ext cx="3063240" cy="457200"/>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Swept the whole Caribbean</a:t>
            </a:r>
            <a:endParaRPr lang="en-US" sz="1800" dirty="0"/>
          </a:p>
        </p:txBody>
      </p:sp>
      <p:sp>
        <p:nvSpPr>
          <p:cNvPr id="17" name="Text 15"/>
          <p:cNvSpPr/>
          <p:nvPr/>
        </p:nvSpPr>
        <p:spPr>
          <a:xfrm>
            <a:off x="8366760" y="3017520"/>
            <a:ext cx="3063240" cy="1325880"/>
          </a:xfrm>
          <a:prstGeom prst="rect">
            <a:avLst/>
          </a:prstGeom>
          <a:noFill/>
          <a:ln/>
        </p:spPr>
        <p:txBody>
          <a:bodyPr wrap="square" lIns="0" tIns="0" rIns="0" bIns="0" rtlCol="0" anchor="ctr"/>
          <a:lstStyle/>
          <a:p>
            <a:pPr indent="0" marL="0">
              <a:buNone/>
            </a:pPr>
            <a:r>
              <a:rPr lang="en-US" sz="1300" dirty="0">
                <a:solidFill>
                  <a:srgbClr val="1A2B3C"/>
                </a:solidFill>
                <a:latin typeface="Calibri" pitchFamily="34" charset="0"/>
                <a:ea typeface="Calibri" pitchFamily="34" charset="-122"/>
                <a:cs typeface="Calibri" pitchFamily="34" charset="-120"/>
              </a:rPr>
              <a:t>Same dates, same airport, five more destinations. Mexico and the DR deliver the same turquoise water for roughly a third of the price.</a:t>
            </a:r>
            <a:endParaRPr lang="en-US" sz="1300" dirty="0"/>
          </a:p>
        </p:txBody>
      </p:sp>
      <p:sp>
        <p:nvSpPr>
          <p:cNvPr id="18" name="Text 16"/>
          <p:cNvSpPr/>
          <p:nvPr/>
        </p:nvSpPr>
        <p:spPr>
          <a:xfrm>
            <a:off x="548640" y="4892040"/>
            <a:ext cx="2651760" cy="822960"/>
          </a:xfrm>
          <a:prstGeom prst="rect">
            <a:avLst/>
          </a:prstGeom>
          <a:noFill/>
          <a:ln/>
        </p:spPr>
        <p:txBody>
          <a:bodyPr wrap="square" lIns="0" tIns="0" rIns="0" bIns="0" rtlCol="0" anchor="ctr"/>
          <a:lstStyle/>
          <a:p>
            <a:pPr algn="ctr" indent="0" marL="0">
              <a:buNone/>
            </a:pPr>
            <a:r>
              <a:rPr lang="en-US" sz="5400" b="1" dirty="0">
                <a:solidFill>
                  <a:srgbClr val="1C7293"/>
                </a:solidFill>
                <a:latin typeface="Cambria" pitchFamily="34" charset="0"/>
                <a:ea typeface="Cambria" pitchFamily="34" charset="-122"/>
                <a:cs typeface="Cambria" pitchFamily="34" charset="-120"/>
              </a:rPr>
              <a:t>61</a:t>
            </a:r>
            <a:endParaRPr lang="en-US" sz="5400" dirty="0"/>
          </a:p>
        </p:txBody>
      </p:sp>
      <p:sp>
        <p:nvSpPr>
          <p:cNvPr id="19" name="Text 17"/>
          <p:cNvSpPr/>
          <p:nvPr/>
        </p:nvSpPr>
        <p:spPr>
          <a:xfrm>
            <a:off x="548640" y="5760720"/>
            <a:ext cx="2651760" cy="365760"/>
          </a:xfrm>
          <a:prstGeom prst="rect">
            <a:avLst/>
          </a:prstGeom>
          <a:noFill/>
          <a:ln/>
        </p:spPr>
        <p:txBody>
          <a:bodyPr wrap="square" lIns="0" tIns="0" rIns="0" bIns="0" rtlCol="0" anchor="ctr"/>
          <a:lstStyle/>
          <a:p>
            <a:pPr algn="ctr" indent="0" marL="0">
              <a:buNone/>
            </a:pPr>
            <a:r>
              <a:rPr lang="en-US" sz="1300" dirty="0">
                <a:solidFill>
                  <a:srgbClr val="6B7A8A"/>
                </a:solidFill>
                <a:latin typeface="Calibri" pitchFamily="34" charset="0"/>
                <a:ea typeface="Calibri" pitchFamily="34" charset="-122"/>
                <a:cs typeface="Calibri" pitchFamily="34" charset="-120"/>
              </a:rPr>
              <a:t>live prices logged</a:t>
            </a:r>
            <a:endParaRPr lang="en-US" sz="1300" dirty="0"/>
          </a:p>
        </p:txBody>
      </p:sp>
      <p:sp>
        <p:nvSpPr>
          <p:cNvPr id="20" name="Text 18"/>
          <p:cNvSpPr/>
          <p:nvPr/>
        </p:nvSpPr>
        <p:spPr>
          <a:xfrm>
            <a:off x="3429000" y="4892040"/>
            <a:ext cx="2651760" cy="822960"/>
          </a:xfrm>
          <a:prstGeom prst="rect">
            <a:avLst/>
          </a:prstGeom>
          <a:noFill/>
          <a:ln/>
        </p:spPr>
        <p:txBody>
          <a:bodyPr wrap="square" lIns="0" tIns="0" rIns="0" bIns="0" rtlCol="0" anchor="ctr"/>
          <a:lstStyle/>
          <a:p>
            <a:pPr algn="ctr" indent="0" marL="0">
              <a:buNone/>
            </a:pPr>
            <a:r>
              <a:rPr lang="en-US" sz="5400" b="1" dirty="0">
                <a:solidFill>
                  <a:srgbClr val="1C7293"/>
                </a:solidFill>
                <a:latin typeface="Cambria" pitchFamily="34" charset="0"/>
                <a:ea typeface="Cambria" pitchFamily="34" charset="-122"/>
                <a:cs typeface="Cambria" pitchFamily="34" charset="-120"/>
              </a:rPr>
              <a:t>5</a:t>
            </a:r>
            <a:endParaRPr lang="en-US" sz="5400" dirty="0"/>
          </a:p>
        </p:txBody>
      </p:sp>
      <p:sp>
        <p:nvSpPr>
          <p:cNvPr id="21" name="Text 19"/>
          <p:cNvSpPr/>
          <p:nvPr/>
        </p:nvSpPr>
        <p:spPr>
          <a:xfrm>
            <a:off x="3429000" y="5760720"/>
            <a:ext cx="2651760" cy="365760"/>
          </a:xfrm>
          <a:prstGeom prst="rect">
            <a:avLst/>
          </a:prstGeom>
          <a:noFill/>
          <a:ln/>
        </p:spPr>
        <p:txBody>
          <a:bodyPr wrap="square" lIns="0" tIns="0" rIns="0" bIns="0" rtlCol="0" anchor="ctr"/>
          <a:lstStyle/>
          <a:p>
            <a:pPr algn="ctr" indent="0" marL="0">
              <a:buNone/>
            </a:pPr>
            <a:r>
              <a:rPr lang="en-US" sz="1300" dirty="0">
                <a:solidFill>
                  <a:srgbClr val="6B7A8A"/>
                </a:solidFill>
                <a:latin typeface="Calibri" pitchFamily="34" charset="0"/>
                <a:ea typeface="Calibri" pitchFamily="34" charset="-122"/>
                <a:cs typeface="Calibri" pitchFamily="34" charset="-120"/>
              </a:rPr>
              <a:t>booking sites</a:t>
            </a:r>
            <a:endParaRPr lang="en-US" sz="1300" dirty="0"/>
          </a:p>
        </p:txBody>
      </p:sp>
      <p:sp>
        <p:nvSpPr>
          <p:cNvPr id="22" name="Text 20"/>
          <p:cNvSpPr/>
          <p:nvPr/>
        </p:nvSpPr>
        <p:spPr>
          <a:xfrm>
            <a:off x="6309360" y="4892040"/>
            <a:ext cx="2651760" cy="822960"/>
          </a:xfrm>
          <a:prstGeom prst="rect">
            <a:avLst/>
          </a:prstGeom>
          <a:noFill/>
          <a:ln/>
        </p:spPr>
        <p:txBody>
          <a:bodyPr wrap="square" lIns="0" tIns="0" rIns="0" bIns="0" rtlCol="0" anchor="ctr"/>
          <a:lstStyle/>
          <a:p>
            <a:pPr algn="ctr" indent="0" marL="0">
              <a:buNone/>
            </a:pPr>
            <a:r>
              <a:rPr lang="en-US" sz="5400" b="1" dirty="0">
                <a:solidFill>
                  <a:srgbClr val="1C7293"/>
                </a:solidFill>
                <a:latin typeface="Cambria" pitchFamily="34" charset="0"/>
                <a:ea typeface="Cambria" pitchFamily="34" charset="-122"/>
                <a:cs typeface="Cambria" pitchFamily="34" charset="-120"/>
              </a:rPr>
              <a:t>6</a:t>
            </a:r>
            <a:endParaRPr lang="en-US" sz="5400" dirty="0"/>
          </a:p>
        </p:txBody>
      </p:sp>
      <p:sp>
        <p:nvSpPr>
          <p:cNvPr id="23" name="Text 21"/>
          <p:cNvSpPr/>
          <p:nvPr/>
        </p:nvSpPr>
        <p:spPr>
          <a:xfrm>
            <a:off x="6309360" y="5760720"/>
            <a:ext cx="2651760" cy="365760"/>
          </a:xfrm>
          <a:prstGeom prst="rect">
            <a:avLst/>
          </a:prstGeom>
          <a:noFill/>
          <a:ln/>
        </p:spPr>
        <p:txBody>
          <a:bodyPr wrap="square" lIns="0" tIns="0" rIns="0" bIns="0" rtlCol="0" anchor="ctr"/>
          <a:lstStyle/>
          <a:p>
            <a:pPr algn="ctr" indent="0" marL="0">
              <a:buNone/>
            </a:pPr>
            <a:r>
              <a:rPr lang="en-US" sz="1300" dirty="0">
                <a:solidFill>
                  <a:srgbClr val="6B7A8A"/>
                </a:solidFill>
                <a:latin typeface="Calibri" pitchFamily="34" charset="0"/>
                <a:ea typeface="Calibri" pitchFamily="34" charset="-122"/>
                <a:cs typeface="Calibri" pitchFamily="34" charset="-120"/>
              </a:rPr>
              <a:t>destinations</a:t>
            </a:r>
            <a:endParaRPr lang="en-US" sz="1300" dirty="0"/>
          </a:p>
        </p:txBody>
      </p:sp>
      <p:sp>
        <p:nvSpPr>
          <p:cNvPr id="24" name="Text 22"/>
          <p:cNvSpPr/>
          <p:nvPr/>
        </p:nvSpPr>
        <p:spPr>
          <a:xfrm>
            <a:off x="9189720" y="4892040"/>
            <a:ext cx="2651760" cy="822960"/>
          </a:xfrm>
          <a:prstGeom prst="rect">
            <a:avLst/>
          </a:prstGeom>
          <a:noFill/>
          <a:ln/>
        </p:spPr>
        <p:txBody>
          <a:bodyPr wrap="square" lIns="0" tIns="0" rIns="0" bIns="0" rtlCol="0" anchor="ctr"/>
          <a:lstStyle/>
          <a:p>
            <a:pPr algn="ctr" indent="0" marL="0">
              <a:buNone/>
            </a:pPr>
            <a:r>
              <a:rPr lang="en-US" sz="5400" b="1" dirty="0">
                <a:solidFill>
                  <a:srgbClr val="1C7293"/>
                </a:solidFill>
                <a:latin typeface="Cambria" pitchFamily="34" charset="0"/>
                <a:ea typeface="Cambria" pitchFamily="34" charset="-122"/>
                <a:cs typeface="Cambria" pitchFamily="34" charset="-120"/>
              </a:rPr>
              <a:t>12</a:t>
            </a:r>
            <a:endParaRPr lang="en-US" sz="5400" dirty="0"/>
          </a:p>
        </p:txBody>
      </p:sp>
      <p:sp>
        <p:nvSpPr>
          <p:cNvPr id="25" name="Text 23"/>
          <p:cNvSpPr/>
          <p:nvPr/>
        </p:nvSpPr>
        <p:spPr>
          <a:xfrm>
            <a:off x="9189720" y="5760720"/>
            <a:ext cx="2651760" cy="365760"/>
          </a:xfrm>
          <a:prstGeom prst="rect">
            <a:avLst/>
          </a:prstGeom>
          <a:noFill/>
          <a:ln/>
        </p:spPr>
        <p:txBody>
          <a:bodyPr wrap="square" lIns="0" tIns="0" rIns="0" bIns="0" rtlCol="0" anchor="ctr"/>
          <a:lstStyle/>
          <a:p>
            <a:pPr algn="ctr" indent="0" marL="0">
              <a:buNone/>
            </a:pPr>
            <a:r>
              <a:rPr lang="en-US" sz="1300" dirty="0">
                <a:solidFill>
                  <a:srgbClr val="6B7A8A"/>
                </a:solidFill>
                <a:latin typeface="Calibri" pitchFamily="34" charset="0"/>
                <a:ea typeface="Calibri" pitchFamily="34" charset="-122"/>
                <a:cs typeface="Calibri" pitchFamily="34" charset="-120"/>
              </a:rPr>
              <a:t>options scored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Why not Aruba (in August)</a:t>
            </a:r>
            <a:endParaRPr lang="en-US" sz="3400" dirty="0"/>
          </a:p>
        </p:txBody>
      </p:sp>
      <p:sp>
        <p:nvSpPr>
          <p:cNvPr id="3" name="Shape 1"/>
          <p:cNvSpPr/>
          <p:nvPr/>
        </p:nvSpPr>
        <p:spPr>
          <a:xfrm>
            <a:off x="548640" y="1554480"/>
            <a:ext cx="3520440" cy="2834640"/>
          </a:xfrm>
          <a:prstGeom prst="roundRect">
            <a:avLst>
              <a:gd name="adj" fmla="val 3871"/>
            </a:avLst>
          </a:prstGeom>
          <a:solidFill>
            <a:srgbClr val="F4EFE6"/>
          </a:solidFill>
          <a:ln/>
        </p:spPr>
      </p:sp>
      <p:sp>
        <p:nvSpPr>
          <p:cNvPr id="4" name="Text 2"/>
          <p:cNvSpPr/>
          <p:nvPr/>
        </p:nvSpPr>
        <p:spPr>
          <a:xfrm>
            <a:off x="731520" y="1828800"/>
            <a:ext cx="3154680" cy="914400"/>
          </a:xfrm>
          <a:prstGeom prst="rect">
            <a:avLst/>
          </a:prstGeom>
          <a:noFill/>
          <a:ln/>
        </p:spPr>
        <p:txBody>
          <a:bodyPr wrap="square" lIns="0" tIns="0" rIns="0" bIns="0" rtlCol="0" anchor="ctr"/>
          <a:lstStyle/>
          <a:p>
            <a:pPr algn="ctr" indent="0" marL="0">
              <a:buNone/>
            </a:pPr>
            <a:r>
              <a:rPr lang="en-US" sz="4400" b="1" dirty="0">
                <a:solidFill>
                  <a:srgbClr val="F96167"/>
                </a:solidFill>
                <a:latin typeface="Cambria" pitchFamily="34" charset="0"/>
                <a:ea typeface="Cambria" pitchFamily="34" charset="-122"/>
                <a:cs typeface="Cambria" pitchFamily="34" charset="-120"/>
              </a:rPr>
              <a:t>$5,972</a:t>
            </a:r>
            <a:endParaRPr lang="en-US" sz="4400" dirty="0"/>
          </a:p>
        </p:txBody>
      </p:sp>
      <p:sp>
        <p:nvSpPr>
          <p:cNvPr id="5" name="Text 3"/>
          <p:cNvSpPr/>
          <p:nvPr/>
        </p:nvSpPr>
        <p:spPr>
          <a:xfrm>
            <a:off x="731520" y="2743200"/>
            <a:ext cx="3154680" cy="411480"/>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best complete trip for 2</a:t>
            </a:r>
            <a:endParaRPr lang="en-US" sz="1500" dirty="0"/>
          </a:p>
        </p:txBody>
      </p:sp>
      <p:sp>
        <p:nvSpPr>
          <p:cNvPr id="6" name="Text 4"/>
          <p:cNvSpPr/>
          <p:nvPr/>
        </p:nvSpPr>
        <p:spPr>
          <a:xfrm>
            <a:off x="822960" y="3200400"/>
            <a:ext cx="2971800" cy="1005840"/>
          </a:xfrm>
          <a:prstGeom prst="rect">
            <a:avLst/>
          </a:prstGeom>
          <a:noFill/>
          <a:ln/>
        </p:spPr>
        <p:txBody>
          <a:bodyPr wrap="square" lIns="0" tIns="0" rIns="0" bIns="0" rtlCol="0" anchor="ctr"/>
          <a:lstStyle/>
          <a:p>
            <a:pPr algn="ctr" indent="0" marL="0">
              <a:buNone/>
            </a:pPr>
            <a:r>
              <a:rPr lang="en-US" sz="1200" dirty="0">
                <a:solidFill>
                  <a:srgbClr val="1A2B3C"/>
                </a:solidFill>
                <a:latin typeface="Calibri" pitchFamily="34" charset="0"/>
                <a:ea typeface="Calibri" pitchFamily="34" charset="-122"/>
                <a:cs typeface="Calibri" pitchFamily="34" charset="-120"/>
              </a:rPr>
              <a:t>Riu Palace Aruba package — the cheapest of every source checked</a:t>
            </a:r>
            <a:endParaRPr lang="en-US" sz="1200" dirty="0"/>
          </a:p>
        </p:txBody>
      </p:sp>
      <p:sp>
        <p:nvSpPr>
          <p:cNvPr id="7" name="Shape 5"/>
          <p:cNvSpPr/>
          <p:nvPr/>
        </p:nvSpPr>
        <p:spPr>
          <a:xfrm>
            <a:off x="4343400" y="1554480"/>
            <a:ext cx="3520440" cy="2834640"/>
          </a:xfrm>
          <a:prstGeom prst="roundRect">
            <a:avLst>
              <a:gd name="adj" fmla="val 3871"/>
            </a:avLst>
          </a:prstGeom>
          <a:solidFill>
            <a:srgbClr val="F4EFE6"/>
          </a:solidFill>
          <a:ln/>
        </p:spPr>
      </p:sp>
      <p:sp>
        <p:nvSpPr>
          <p:cNvPr id="8" name="Text 6"/>
          <p:cNvSpPr/>
          <p:nvPr/>
        </p:nvSpPr>
        <p:spPr>
          <a:xfrm>
            <a:off x="4526280" y="1828800"/>
            <a:ext cx="3154680" cy="914400"/>
          </a:xfrm>
          <a:prstGeom prst="rect">
            <a:avLst/>
          </a:prstGeom>
          <a:noFill/>
          <a:ln/>
        </p:spPr>
        <p:txBody>
          <a:bodyPr wrap="square" lIns="0" tIns="0" rIns="0" bIns="0" rtlCol="0" anchor="ctr"/>
          <a:lstStyle/>
          <a:p>
            <a:pPr algn="ctr" indent="0" marL="0">
              <a:buNone/>
            </a:pPr>
            <a:r>
              <a:rPr lang="en-US" sz="4400" b="1" dirty="0">
                <a:solidFill>
                  <a:srgbClr val="F96167"/>
                </a:solidFill>
                <a:latin typeface="Cambria" pitchFamily="34" charset="0"/>
                <a:ea typeface="Cambria" pitchFamily="34" charset="-122"/>
                <a:cs typeface="Cambria" pitchFamily="34" charset="-120"/>
              </a:rPr>
              <a:t>6h 40m</a:t>
            </a:r>
            <a:endParaRPr lang="en-US" sz="4400" dirty="0"/>
          </a:p>
        </p:txBody>
      </p:sp>
      <p:sp>
        <p:nvSpPr>
          <p:cNvPr id="9" name="Text 7"/>
          <p:cNvSpPr/>
          <p:nvPr/>
        </p:nvSpPr>
        <p:spPr>
          <a:xfrm>
            <a:off x="4526280" y="2743200"/>
            <a:ext cx="3154680" cy="411480"/>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best flight, 1 stop</a:t>
            </a:r>
            <a:endParaRPr lang="en-US" sz="1500" dirty="0"/>
          </a:p>
        </p:txBody>
      </p:sp>
      <p:sp>
        <p:nvSpPr>
          <p:cNvPr id="10" name="Text 8"/>
          <p:cNvSpPr/>
          <p:nvPr/>
        </p:nvSpPr>
        <p:spPr>
          <a:xfrm>
            <a:off x="4617720" y="3200400"/>
            <a:ext cx="2971800" cy="1005840"/>
          </a:xfrm>
          <a:prstGeom prst="rect">
            <a:avLst/>
          </a:prstGeom>
          <a:noFill/>
          <a:ln/>
        </p:spPr>
        <p:txBody>
          <a:bodyPr wrap="square" lIns="0" tIns="0" rIns="0" bIns="0" rtlCol="0" anchor="ctr"/>
          <a:lstStyle/>
          <a:p>
            <a:pPr algn="ctr" indent="0" marL="0">
              <a:buNone/>
            </a:pPr>
            <a:r>
              <a:rPr lang="en-US" sz="1200" dirty="0">
                <a:solidFill>
                  <a:srgbClr val="1A2B3C"/>
                </a:solidFill>
                <a:latin typeface="Calibri" pitchFamily="34" charset="0"/>
                <a:ea typeface="Calibri" pitchFamily="34" charset="-122"/>
                <a:cs typeface="Calibri" pitchFamily="34" charset="-120"/>
              </a:rPr>
              <a:t>No DTW nonstop until Dec 19. Best fare $1,842 for two — 2x your ceiling</a:t>
            </a:r>
            <a:endParaRPr lang="en-US" sz="1200" dirty="0"/>
          </a:p>
        </p:txBody>
      </p:sp>
      <p:sp>
        <p:nvSpPr>
          <p:cNvPr id="11" name="Shape 9"/>
          <p:cNvSpPr/>
          <p:nvPr/>
        </p:nvSpPr>
        <p:spPr>
          <a:xfrm>
            <a:off x="8138160" y="1554480"/>
            <a:ext cx="3520440" cy="2834640"/>
          </a:xfrm>
          <a:prstGeom prst="roundRect">
            <a:avLst>
              <a:gd name="adj" fmla="val 3871"/>
            </a:avLst>
          </a:prstGeom>
          <a:solidFill>
            <a:srgbClr val="F4EFE6"/>
          </a:solidFill>
          <a:ln/>
        </p:spPr>
      </p:sp>
      <p:sp>
        <p:nvSpPr>
          <p:cNvPr id="12" name="Text 10"/>
          <p:cNvSpPr/>
          <p:nvPr/>
        </p:nvSpPr>
        <p:spPr>
          <a:xfrm>
            <a:off x="8321040" y="1828800"/>
            <a:ext cx="3154680" cy="914400"/>
          </a:xfrm>
          <a:prstGeom prst="rect">
            <a:avLst/>
          </a:prstGeom>
          <a:noFill/>
          <a:ln/>
        </p:spPr>
        <p:txBody>
          <a:bodyPr wrap="square" lIns="0" tIns="0" rIns="0" bIns="0" rtlCol="0" anchor="ctr"/>
          <a:lstStyle/>
          <a:p>
            <a:pPr algn="ctr" indent="0" marL="0">
              <a:buNone/>
            </a:pPr>
            <a:r>
              <a:rPr lang="en-US" sz="4400" b="1" dirty="0">
                <a:solidFill>
                  <a:srgbClr val="F96167"/>
                </a:solidFill>
                <a:latin typeface="Cambria" pitchFamily="34" charset="0"/>
                <a:ea typeface="Cambria" pitchFamily="34" charset="-122"/>
                <a:cs typeface="Cambria" pitchFamily="34" charset="-120"/>
              </a:rPr>
              <a:t>“HIGH”</a:t>
            </a:r>
            <a:endParaRPr lang="en-US" sz="4400" dirty="0"/>
          </a:p>
        </p:txBody>
      </p:sp>
      <p:sp>
        <p:nvSpPr>
          <p:cNvPr id="13" name="Text 11"/>
          <p:cNvSpPr/>
          <p:nvPr/>
        </p:nvSpPr>
        <p:spPr>
          <a:xfrm>
            <a:off x="8321040" y="2743200"/>
            <a:ext cx="3154680" cy="411480"/>
          </a:xfrm>
          <a:prstGeom prst="rect">
            <a:avLst/>
          </a:prstGeom>
          <a:noFill/>
          <a:ln/>
        </p:spPr>
        <p:txBody>
          <a:bodyPr wrap="square" lIns="0" tIns="0" rIns="0" bIns="0" rtlCol="0" anchor="ctr"/>
          <a:lstStyle/>
          <a:p>
            <a:pPr algn="ctr" indent="0" marL="0">
              <a:buNone/>
            </a:pPr>
            <a:r>
              <a:rPr lang="en-US" sz="1500" b="1" dirty="0">
                <a:solidFill>
                  <a:srgbClr val="21295C"/>
                </a:solidFill>
                <a:latin typeface="Calibri" pitchFamily="34" charset="0"/>
                <a:ea typeface="Calibri" pitchFamily="34" charset="-122"/>
                <a:cs typeface="Calibri" pitchFamily="34" charset="-120"/>
              </a:rPr>
              <a:t>Google's own price flag</a:t>
            </a:r>
            <a:endParaRPr lang="en-US" sz="1500" dirty="0"/>
          </a:p>
        </p:txBody>
      </p:sp>
      <p:sp>
        <p:nvSpPr>
          <p:cNvPr id="14" name="Text 12"/>
          <p:cNvSpPr/>
          <p:nvPr/>
        </p:nvSpPr>
        <p:spPr>
          <a:xfrm>
            <a:off x="8412480" y="3200400"/>
            <a:ext cx="2971800" cy="1005840"/>
          </a:xfrm>
          <a:prstGeom prst="rect">
            <a:avLst/>
          </a:prstGeom>
          <a:noFill/>
          <a:ln/>
        </p:spPr>
        <p:txBody>
          <a:bodyPr wrap="square" lIns="0" tIns="0" rIns="0" bIns="0" rtlCol="0" anchor="ctr"/>
          <a:lstStyle/>
          <a:p>
            <a:pPr algn="ctr" indent="0" marL="0">
              <a:buNone/>
            </a:pPr>
            <a:r>
              <a:rPr lang="en-US" sz="1200" dirty="0">
                <a:solidFill>
                  <a:srgbClr val="1A2B3C"/>
                </a:solidFill>
                <a:latin typeface="Calibri" pitchFamily="34" charset="0"/>
                <a:ea typeface="Calibri" pitchFamily="34" charset="-122"/>
                <a:cs typeface="Calibri" pitchFamily="34" charset="-120"/>
              </a:rPr>
              <a:t>Every one of 21 Aruba observations scored RED against your baselines</a:t>
            </a:r>
            <a:endParaRPr lang="en-US" sz="1200" dirty="0"/>
          </a:p>
        </p:txBody>
      </p:sp>
      <p:sp>
        <p:nvSpPr>
          <p:cNvPr id="15" name="Shape 13"/>
          <p:cNvSpPr/>
          <p:nvPr/>
        </p:nvSpPr>
        <p:spPr>
          <a:xfrm>
            <a:off x="548640" y="4846320"/>
            <a:ext cx="11064240" cy="1234440"/>
          </a:xfrm>
          <a:prstGeom prst="roundRect">
            <a:avLst>
              <a:gd name="adj" fmla="val 8889"/>
            </a:avLst>
          </a:prstGeom>
          <a:solidFill>
            <a:srgbClr val="21295C"/>
          </a:solidFill>
          <a:ln/>
        </p:spPr>
      </p:sp>
      <p:sp>
        <p:nvSpPr>
          <p:cNvPr id="16" name="Text 14"/>
          <p:cNvSpPr/>
          <p:nvPr/>
        </p:nvSpPr>
        <p:spPr>
          <a:xfrm>
            <a:off x="868680" y="4983480"/>
            <a:ext cx="10424160" cy="96012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Verdict:  </a:t>
            </a:r>
            <a:pPr indent="0" marL="0">
              <a:buNone/>
            </a:pPr>
            <a:r>
              <a:rPr lang="en-US" sz="1600" dirty="0">
                <a:solidFill>
                  <a:srgbClr val="FFFFFF"/>
                </a:solidFill>
                <a:latin typeface="Calibri" pitchFamily="34" charset="0"/>
                <a:ea typeface="Calibri" pitchFamily="34" charset="-122"/>
                <a:cs typeface="Calibri" pitchFamily="34" charset="-120"/>
              </a:rPr>
              <a:t>don't book Aruba this window. Keep it in the price tracker for a winter rematch — the Delta nonstop starts Dec 19 and changes the math completely.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Same week, same airport — six price tags</a:t>
            </a:r>
            <a:endParaRPr lang="en-US" sz="3400" dirty="0"/>
          </a:p>
        </p:txBody>
      </p:sp>
      <p:sp>
        <p:nvSpPr>
          <p:cNvPr id="3" name="Text 1"/>
          <p:cNvSpPr/>
          <p:nvPr/>
        </p:nvSpPr>
        <p:spPr>
          <a:xfrm>
            <a:off x="548640" y="1005840"/>
            <a:ext cx="10972800" cy="365760"/>
          </a:xfrm>
          <a:prstGeom prst="rect">
            <a:avLst/>
          </a:prstGeom>
          <a:noFill/>
          <a:ln/>
        </p:spPr>
        <p:txBody>
          <a:bodyPr wrap="square" lIns="0" tIns="0" rIns="0" bIns="0" rtlCol="0" anchor="ctr"/>
          <a:lstStyle/>
          <a:p>
            <a:pPr indent="0" marL="0">
              <a:buNone/>
            </a:pPr>
            <a:r>
              <a:rPr lang="en-US" sz="1400" i="1" dirty="0">
                <a:solidFill>
                  <a:srgbClr val="6B7A8A"/>
                </a:solidFill>
                <a:latin typeface="Calibri" pitchFamily="34" charset="0"/>
                <a:ea typeface="Calibri" pitchFamily="34" charset="-122"/>
                <a:cs typeface="Calibri" pitchFamily="34" charset="-120"/>
              </a:rPr>
              <a:t>Cheapest solid 4★+ all-inclusive package found, 2 people, flights + hotel + taxes, Aug 8–15</a:t>
            </a:r>
            <a:endParaRPr lang="en-US" sz="1400" dirty="0"/>
          </a:p>
        </p:txBody>
      </p:sp>
      <p:graphicFrame>
        <p:nvGraphicFramePr>
          <p:cNvPr id="4" name="Chart 0" descr=""/>
          <p:cNvGraphicFramePr/>
          <p:nvPr/>
        </p:nvGraphicFramePr>
        <p:xfrm>
          <a:off x="548640" y="1463040"/>
          <a:ext cx="11064240" cy="49377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How every option gets scored</a:t>
            </a:r>
            <a:endParaRPr lang="en-US" sz="3400" dirty="0"/>
          </a:p>
        </p:txBody>
      </p:sp>
      <p:sp>
        <p:nvSpPr>
          <p:cNvPr id="3" name="Text 1"/>
          <p:cNvSpPr/>
          <p:nvPr/>
        </p:nvSpPr>
        <p:spPr>
          <a:xfrm>
            <a:off x="548640" y="1005840"/>
            <a:ext cx="11064240" cy="502920"/>
          </a:xfrm>
          <a:prstGeom prst="rect">
            <a:avLst/>
          </a:prstGeom>
          <a:noFill/>
          <a:ln/>
        </p:spPr>
        <p:txBody>
          <a:bodyPr wrap="square" lIns="0" tIns="0" rIns="0" bIns="0" rtlCol="0" anchor="ctr"/>
          <a:lstStyle/>
          <a:p>
            <a:pPr indent="0" marL="0">
              <a:buNone/>
            </a:pPr>
            <a:r>
              <a:rPr lang="en-US" sz="1400" i="1" dirty="0">
                <a:solidFill>
                  <a:srgbClr val="6B7A8A"/>
                </a:solidFill>
                <a:latin typeface="Calibri" pitchFamily="34" charset="0"/>
                <a:ea typeface="Calibri" pitchFamily="34" charset="-122"/>
                <a:cs typeface="Calibri" pitchFamily="34" charset="-120"/>
              </a:rPr>
              <a:t>Nine criteria, weighted for the two of you. Weights and judgment scores are editable in VacationScorecard.xlsx — change them and the ranking recalculates.</a:t>
            </a:r>
            <a:endParaRPr lang="en-US" sz="1400" dirty="0"/>
          </a:p>
        </p:txBody>
      </p:sp>
      <p:sp>
        <p:nvSpPr>
          <p:cNvPr id="4" name="Shape 2"/>
          <p:cNvSpPr/>
          <p:nvPr/>
        </p:nvSpPr>
        <p:spPr>
          <a:xfrm>
            <a:off x="548640" y="1691640"/>
            <a:ext cx="3520440" cy="1325880"/>
          </a:xfrm>
          <a:prstGeom prst="roundRect">
            <a:avLst>
              <a:gd name="adj" fmla="val 6897"/>
            </a:avLst>
          </a:prstGeom>
          <a:solidFill>
            <a:srgbClr val="F4EFE6"/>
          </a:solidFill>
          <a:ln/>
        </p:spPr>
      </p:sp>
      <p:sp>
        <p:nvSpPr>
          <p:cNvPr id="5" name="Shape 3"/>
          <p:cNvSpPr/>
          <p:nvPr/>
        </p:nvSpPr>
        <p:spPr>
          <a:xfrm>
            <a:off x="713232" y="1856232"/>
            <a:ext cx="502920" cy="502920"/>
          </a:xfrm>
          <a:prstGeom prst="ellipse">
            <a:avLst/>
          </a:prstGeom>
          <a:solidFill>
            <a:srgbClr val="065A82"/>
          </a:solidFill>
          <a:ln/>
        </p:spPr>
      </p:sp>
      <p:sp>
        <p:nvSpPr>
          <p:cNvPr id="6" name="Text 4"/>
          <p:cNvSpPr/>
          <p:nvPr/>
        </p:nvSpPr>
        <p:spPr>
          <a:xfrm>
            <a:off x="713232" y="1856232"/>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25</a:t>
            </a:r>
            <a:endParaRPr lang="en-US" sz="1400" dirty="0"/>
          </a:p>
        </p:txBody>
      </p:sp>
      <p:sp>
        <p:nvSpPr>
          <p:cNvPr id="7" name="Text 5"/>
          <p:cNvSpPr/>
          <p:nvPr/>
        </p:nvSpPr>
        <p:spPr>
          <a:xfrm>
            <a:off x="1325880" y="1819656"/>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Price / Value</a:t>
            </a:r>
            <a:endParaRPr lang="en-US" sz="1400" dirty="0"/>
          </a:p>
        </p:txBody>
      </p:sp>
      <p:sp>
        <p:nvSpPr>
          <p:cNvPr id="8" name="Text 6"/>
          <p:cNvSpPr/>
          <p:nvPr/>
        </p:nvSpPr>
        <p:spPr>
          <a:xfrm>
            <a:off x="1325880" y="2194560"/>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10 = cheapest option; everything else scaled against it</a:t>
            </a:r>
            <a:endParaRPr lang="en-US" sz="1000" dirty="0"/>
          </a:p>
        </p:txBody>
      </p:sp>
      <p:sp>
        <p:nvSpPr>
          <p:cNvPr id="9" name="Shape 7"/>
          <p:cNvSpPr/>
          <p:nvPr/>
        </p:nvSpPr>
        <p:spPr>
          <a:xfrm>
            <a:off x="4343400" y="1691640"/>
            <a:ext cx="3520440" cy="1325880"/>
          </a:xfrm>
          <a:prstGeom prst="roundRect">
            <a:avLst>
              <a:gd name="adj" fmla="val 6897"/>
            </a:avLst>
          </a:prstGeom>
          <a:solidFill>
            <a:srgbClr val="F4EFE6"/>
          </a:solidFill>
          <a:ln/>
        </p:spPr>
      </p:sp>
      <p:sp>
        <p:nvSpPr>
          <p:cNvPr id="10" name="Shape 8"/>
          <p:cNvSpPr/>
          <p:nvPr/>
        </p:nvSpPr>
        <p:spPr>
          <a:xfrm>
            <a:off x="4507992" y="1856232"/>
            <a:ext cx="502920" cy="502920"/>
          </a:xfrm>
          <a:prstGeom prst="ellipse">
            <a:avLst/>
          </a:prstGeom>
          <a:solidFill>
            <a:srgbClr val="065A82"/>
          </a:solidFill>
          <a:ln/>
        </p:spPr>
      </p:sp>
      <p:sp>
        <p:nvSpPr>
          <p:cNvPr id="11" name="Text 9"/>
          <p:cNvSpPr/>
          <p:nvPr/>
        </p:nvSpPr>
        <p:spPr>
          <a:xfrm>
            <a:off x="4507992" y="1856232"/>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12" name="Text 10"/>
          <p:cNvSpPr/>
          <p:nvPr/>
        </p:nvSpPr>
        <p:spPr>
          <a:xfrm>
            <a:off x="5120640" y="1819656"/>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Flight time</a:t>
            </a:r>
            <a:endParaRPr lang="en-US" sz="1400" dirty="0"/>
          </a:p>
        </p:txBody>
      </p:sp>
      <p:sp>
        <p:nvSpPr>
          <p:cNvPr id="13" name="Text 11"/>
          <p:cNvSpPr/>
          <p:nvPr/>
        </p:nvSpPr>
        <p:spPr>
          <a:xfrm>
            <a:off x="5120640" y="2194560"/>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Gate-to-gate from DTW. Cancun 3h45 nonstop sets the bar; Aruba 6h40 pays for it</a:t>
            </a:r>
            <a:endParaRPr lang="en-US" sz="1000" dirty="0"/>
          </a:p>
        </p:txBody>
      </p:sp>
      <p:sp>
        <p:nvSpPr>
          <p:cNvPr id="14" name="Shape 12"/>
          <p:cNvSpPr/>
          <p:nvPr/>
        </p:nvSpPr>
        <p:spPr>
          <a:xfrm>
            <a:off x="8138160" y="1691640"/>
            <a:ext cx="3520440" cy="1325880"/>
          </a:xfrm>
          <a:prstGeom prst="roundRect">
            <a:avLst>
              <a:gd name="adj" fmla="val 6897"/>
            </a:avLst>
          </a:prstGeom>
          <a:solidFill>
            <a:srgbClr val="F4EFE6"/>
          </a:solidFill>
          <a:ln/>
        </p:spPr>
      </p:sp>
      <p:sp>
        <p:nvSpPr>
          <p:cNvPr id="15" name="Shape 13"/>
          <p:cNvSpPr/>
          <p:nvPr/>
        </p:nvSpPr>
        <p:spPr>
          <a:xfrm>
            <a:off x="8302752" y="1856232"/>
            <a:ext cx="502920" cy="502920"/>
          </a:xfrm>
          <a:prstGeom prst="ellipse">
            <a:avLst/>
          </a:prstGeom>
          <a:solidFill>
            <a:srgbClr val="065A82"/>
          </a:solidFill>
          <a:ln/>
        </p:spPr>
      </p:sp>
      <p:sp>
        <p:nvSpPr>
          <p:cNvPr id="16" name="Text 14"/>
          <p:cNvSpPr/>
          <p:nvPr/>
        </p:nvSpPr>
        <p:spPr>
          <a:xfrm>
            <a:off x="8302752" y="1856232"/>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15</a:t>
            </a:r>
            <a:endParaRPr lang="en-US" sz="1400" dirty="0"/>
          </a:p>
        </p:txBody>
      </p:sp>
      <p:sp>
        <p:nvSpPr>
          <p:cNvPr id="17" name="Text 15"/>
          <p:cNvSpPr/>
          <p:nvPr/>
        </p:nvSpPr>
        <p:spPr>
          <a:xfrm>
            <a:off x="8915400" y="1819656"/>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Beach clarity</a:t>
            </a:r>
            <a:endParaRPr lang="en-US" sz="1400" dirty="0"/>
          </a:p>
        </p:txBody>
      </p:sp>
      <p:sp>
        <p:nvSpPr>
          <p:cNvPr id="18" name="Text 16"/>
          <p:cNvSpPr/>
          <p:nvPr/>
        </p:nvSpPr>
        <p:spPr>
          <a:xfrm>
            <a:off x="8915400" y="2194560"/>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The crystal-water score: Cabbage Beach, Costa Mujeres, Bávaro, Negril rank top</a:t>
            </a:r>
            <a:endParaRPr lang="en-US" sz="1000" dirty="0"/>
          </a:p>
        </p:txBody>
      </p:sp>
      <p:sp>
        <p:nvSpPr>
          <p:cNvPr id="19" name="Shape 17"/>
          <p:cNvSpPr/>
          <p:nvPr/>
        </p:nvSpPr>
        <p:spPr>
          <a:xfrm>
            <a:off x="548640" y="3172968"/>
            <a:ext cx="3520440" cy="1325880"/>
          </a:xfrm>
          <a:prstGeom prst="roundRect">
            <a:avLst>
              <a:gd name="adj" fmla="val 6897"/>
            </a:avLst>
          </a:prstGeom>
          <a:solidFill>
            <a:srgbClr val="F4EFE6"/>
          </a:solidFill>
          <a:ln/>
        </p:spPr>
      </p:sp>
      <p:sp>
        <p:nvSpPr>
          <p:cNvPr id="20" name="Shape 18"/>
          <p:cNvSpPr/>
          <p:nvPr/>
        </p:nvSpPr>
        <p:spPr>
          <a:xfrm>
            <a:off x="713232" y="3337560"/>
            <a:ext cx="502920" cy="502920"/>
          </a:xfrm>
          <a:prstGeom prst="ellipse">
            <a:avLst/>
          </a:prstGeom>
          <a:solidFill>
            <a:srgbClr val="065A82"/>
          </a:solidFill>
          <a:ln/>
        </p:spPr>
      </p:sp>
      <p:sp>
        <p:nvSpPr>
          <p:cNvPr id="21" name="Text 19"/>
          <p:cNvSpPr/>
          <p:nvPr/>
        </p:nvSpPr>
        <p:spPr>
          <a:xfrm>
            <a:off x="713232" y="33375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22" name="Text 20"/>
          <p:cNvSpPr/>
          <p:nvPr/>
        </p:nvSpPr>
        <p:spPr>
          <a:xfrm>
            <a:off x="1325880" y="3300984"/>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Romance / adults-only</a:t>
            </a:r>
            <a:endParaRPr lang="en-US" sz="1400" dirty="0"/>
          </a:p>
        </p:txBody>
      </p:sp>
      <p:sp>
        <p:nvSpPr>
          <p:cNvPr id="23" name="Text 21"/>
          <p:cNvSpPr/>
          <p:nvPr/>
        </p:nvSpPr>
        <p:spPr>
          <a:xfrm>
            <a:off x="1325880" y="3675888"/>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Adults-only resorts 9–10; big family resorts capped at 7</a:t>
            </a:r>
            <a:endParaRPr lang="en-US" sz="1000" dirty="0"/>
          </a:p>
        </p:txBody>
      </p:sp>
      <p:sp>
        <p:nvSpPr>
          <p:cNvPr id="24" name="Shape 22"/>
          <p:cNvSpPr/>
          <p:nvPr/>
        </p:nvSpPr>
        <p:spPr>
          <a:xfrm>
            <a:off x="4343400" y="3172968"/>
            <a:ext cx="3520440" cy="1325880"/>
          </a:xfrm>
          <a:prstGeom prst="roundRect">
            <a:avLst>
              <a:gd name="adj" fmla="val 6897"/>
            </a:avLst>
          </a:prstGeom>
          <a:solidFill>
            <a:srgbClr val="F4EFE6"/>
          </a:solidFill>
          <a:ln/>
        </p:spPr>
      </p:sp>
      <p:sp>
        <p:nvSpPr>
          <p:cNvPr id="25" name="Shape 23"/>
          <p:cNvSpPr/>
          <p:nvPr/>
        </p:nvSpPr>
        <p:spPr>
          <a:xfrm>
            <a:off x="4507992" y="3337560"/>
            <a:ext cx="502920" cy="502920"/>
          </a:xfrm>
          <a:prstGeom prst="ellipse">
            <a:avLst/>
          </a:prstGeom>
          <a:solidFill>
            <a:srgbClr val="065A82"/>
          </a:solidFill>
          <a:ln/>
        </p:spPr>
      </p:sp>
      <p:sp>
        <p:nvSpPr>
          <p:cNvPr id="26" name="Text 24"/>
          <p:cNvSpPr/>
          <p:nvPr/>
        </p:nvSpPr>
        <p:spPr>
          <a:xfrm>
            <a:off x="4507992" y="33375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27" name="Text 25"/>
          <p:cNvSpPr/>
          <p:nvPr/>
        </p:nvSpPr>
        <p:spPr>
          <a:xfrm>
            <a:off x="5120640" y="3300984"/>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Reviews</a:t>
            </a:r>
            <a:endParaRPr lang="en-US" sz="1400" dirty="0"/>
          </a:p>
        </p:txBody>
      </p:sp>
      <p:sp>
        <p:nvSpPr>
          <p:cNvPr id="28" name="Text 26"/>
          <p:cNvSpPr/>
          <p:nvPr/>
        </p:nvSpPr>
        <p:spPr>
          <a:xfrm>
            <a:off x="5120640" y="3675888"/>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Volume-weighted social proof (log scale of review count)</a:t>
            </a:r>
            <a:endParaRPr lang="en-US" sz="1000" dirty="0"/>
          </a:p>
        </p:txBody>
      </p:sp>
      <p:sp>
        <p:nvSpPr>
          <p:cNvPr id="29" name="Shape 27"/>
          <p:cNvSpPr/>
          <p:nvPr/>
        </p:nvSpPr>
        <p:spPr>
          <a:xfrm>
            <a:off x="8138160" y="3172968"/>
            <a:ext cx="3520440" cy="1325880"/>
          </a:xfrm>
          <a:prstGeom prst="roundRect">
            <a:avLst>
              <a:gd name="adj" fmla="val 6897"/>
            </a:avLst>
          </a:prstGeom>
          <a:solidFill>
            <a:srgbClr val="F4EFE6"/>
          </a:solidFill>
          <a:ln/>
        </p:spPr>
      </p:sp>
      <p:sp>
        <p:nvSpPr>
          <p:cNvPr id="30" name="Shape 28"/>
          <p:cNvSpPr/>
          <p:nvPr/>
        </p:nvSpPr>
        <p:spPr>
          <a:xfrm>
            <a:off x="8302752" y="3337560"/>
            <a:ext cx="502920" cy="502920"/>
          </a:xfrm>
          <a:prstGeom prst="ellipse">
            <a:avLst/>
          </a:prstGeom>
          <a:solidFill>
            <a:srgbClr val="065A82"/>
          </a:solidFill>
          <a:ln/>
        </p:spPr>
      </p:sp>
      <p:sp>
        <p:nvSpPr>
          <p:cNvPr id="31" name="Text 29"/>
          <p:cNvSpPr/>
          <p:nvPr/>
        </p:nvSpPr>
        <p:spPr>
          <a:xfrm>
            <a:off x="8302752" y="33375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10</a:t>
            </a:r>
            <a:endParaRPr lang="en-US" sz="1400" dirty="0"/>
          </a:p>
        </p:txBody>
      </p:sp>
      <p:sp>
        <p:nvSpPr>
          <p:cNvPr id="32" name="Text 30"/>
          <p:cNvSpPr/>
          <p:nvPr/>
        </p:nvSpPr>
        <p:spPr>
          <a:xfrm>
            <a:off x="8915400" y="3300984"/>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Resort tier</a:t>
            </a:r>
            <a:endParaRPr lang="en-US" sz="1400" dirty="0"/>
          </a:p>
        </p:txBody>
      </p:sp>
      <p:sp>
        <p:nvSpPr>
          <p:cNvPr id="33" name="Text 31"/>
          <p:cNvSpPr/>
          <p:nvPr/>
        </p:nvSpPr>
        <p:spPr>
          <a:xfrm>
            <a:off x="8915400" y="3675888"/>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Palace / Secrets class 9–10; standard 4★ 6–8</a:t>
            </a:r>
            <a:endParaRPr lang="en-US" sz="1000" dirty="0"/>
          </a:p>
        </p:txBody>
      </p:sp>
      <p:sp>
        <p:nvSpPr>
          <p:cNvPr id="34" name="Shape 32"/>
          <p:cNvSpPr/>
          <p:nvPr/>
        </p:nvSpPr>
        <p:spPr>
          <a:xfrm>
            <a:off x="548640" y="4654296"/>
            <a:ext cx="3520440" cy="1325880"/>
          </a:xfrm>
          <a:prstGeom prst="roundRect">
            <a:avLst>
              <a:gd name="adj" fmla="val 6897"/>
            </a:avLst>
          </a:prstGeom>
          <a:solidFill>
            <a:srgbClr val="F4EFE6"/>
          </a:solidFill>
          <a:ln/>
        </p:spPr>
      </p:sp>
      <p:sp>
        <p:nvSpPr>
          <p:cNvPr id="35" name="Shape 33"/>
          <p:cNvSpPr/>
          <p:nvPr/>
        </p:nvSpPr>
        <p:spPr>
          <a:xfrm>
            <a:off x="713232" y="4818888"/>
            <a:ext cx="502920" cy="502920"/>
          </a:xfrm>
          <a:prstGeom prst="ellipse">
            <a:avLst/>
          </a:prstGeom>
          <a:solidFill>
            <a:srgbClr val="065A82"/>
          </a:solidFill>
          <a:ln/>
        </p:spPr>
      </p:sp>
      <p:sp>
        <p:nvSpPr>
          <p:cNvPr id="36" name="Text 34"/>
          <p:cNvSpPr/>
          <p:nvPr/>
        </p:nvSpPr>
        <p:spPr>
          <a:xfrm>
            <a:off x="713232" y="48188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37" name="Text 35"/>
          <p:cNvSpPr/>
          <p:nvPr/>
        </p:nvSpPr>
        <p:spPr>
          <a:xfrm>
            <a:off x="1325880" y="4782312"/>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Date flexibility</a:t>
            </a:r>
            <a:endParaRPr lang="en-US" sz="1400" dirty="0"/>
          </a:p>
        </p:txBody>
      </p:sp>
      <p:sp>
        <p:nvSpPr>
          <p:cNvPr id="38" name="Text 36"/>
          <p:cNvSpPr/>
          <p:nvPr/>
        </p:nvSpPr>
        <p:spPr>
          <a:xfrm>
            <a:off x="1325880" y="5157216"/>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Checked Aug 8/9/10/11 starts live — Aug 8 won every time</a:t>
            </a:r>
            <a:endParaRPr lang="en-US" sz="1000" dirty="0"/>
          </a:p>
        </p:txBody>
      </p:sp>
      <p:sp>
        <p:nvSpPr>
          <p:cNvPr id="39" name="Shape 37"/>
          <p:cNvSpPr/>
          <p:nvPr/>
        </p:nvSpPr>
        <p:spPr>
          <a:xfrm>
            <a:off x="4343400" y="4654296"/>
            <a:ext cx="3520440" cy="1325880"/>
          </a:xfrm>
          <a:prstGeom prst="roundRect">
            <a:avLst>
              <a:gd name="adj" fmla="val 6897"/>
            </a:avLst>
          </a:prstGeom>
          <a:solidFill>
            <a:srgbClr val="F4EFE6"/>
          </a:solidFill>
          <a:ln/>
        </p:spPr>
      </p:sp>
      <p:sp>
        <p:nvSpPr>
          <p:cNvPr id="40" name="Shape 38"/>
          <p:cNvSpPr/>
          <p:nvPr/>
        </p:nvSpPr>
        <p:spPr>
          <a:xfrm>
            <a:off x="4507992" y="4818888"/>
            <a:ext cx="502920" cy="502920"/>
          </a:xfrm>
          <a:prstGeom prst="ellipse">
            <a:avLst/>
          </a:prstGeom>
          <a:solidFill>
            <a:srgbClr val="065A82"/>
          </a:solidFill>
          <a:ln/>
        </p:spPr>
      </p:sp>
      <p:sp>
        <p:nvSpPr>
          <p:cNvPr id="41" name="Text 39"/>
          <p:cNvSpPr/>
          <p:nvPr/>
        </p:nvSpPr>
        <p:spPr>
          <a:xfrm>
            <a:off x="4507992" y="48188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2" name="Text 40"/>
          <p:cNvSpPr/>
          <p:nvPr/>
        </p:nvSpPr>
        <p:spPr>
          <a:xfrm>
            <a:off x="5120640" y="4782312"/>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Transfer ease</a:t>
            </a:r>
            <a:endParaRPr lang="en-US" sz="1400" dirty="0"/>
          </a:p>
        </p:txBody>
      </p:sp>
      <p:sp>
        <p:nvSpPr>
          <p:cNvPr id="43" name="Text 41"/>
          <p:cNvSpPr/>
          <p:nvPr/>
        </p:nvSpPr>
        <p:spPr>
          <a:xfrm>
            <a:off x="5120640" y="5157216"/>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Miles from arrival airport to the resort</a:t>
            </a:r>
            <a:endParaRPr lang="en-US" sz="1000" dirty="0"/>
          </a:p>
        </p:txBody>
      </p:sp>
      <p:sp>
        <p:nvSpPr>
          <p:cNvPr id="44" name="Shape 42"/>
          <p:cNvSpPr/>
          <p:nvPr/>
        </p:nvSpPr>
        <p:spPr>
          <a:xfrm>
            <a:off x="8138160" y="4654296"/>
            <a:ext cx="3520440" cy="1325880"/>
          </a:xfrm>
          <a:prstGeom prst="roundRect">
            <a:avLst>
              <a:gd name="adj" fmla="val 6897"/>
            </a:avLst>
          </a:prstGeom>
          <a:solidFill>
            <a:srgbClr val="F4EFE6"/>
          </a:solidFill>
          <a:ln/>
        </p:spPr>
      </p:sp>
      <p:sp>
        <p:nvSpPr>
          <p:cNvPr id="45" name="Shape 43"/>
          <p:cNvSpPr/>
          <p:nvPr/>
        </p:nvSpPr>
        <p:spPr>
          <a:xfrm>
            <a:off x="8302752" y="4818888"/>
            <a:ext cx="502920" cy="502920"/>
          </a:xfrm>
          <a:prstGeom prst="ellipse">
            <a:avLst/>
          </a:prstGeom>
          <a:solidFill>
            <a:srgbClr val="065A82"/>
          </a:solidFill>
          <a:ln/>
        </p:spPr>
      </p:sp>
      <p:sp>
        <p:nvSpPr>
          <p:cNvPr id="46" name="Text 44"/>
          <p:cNvSpPr/>
          <p:nvPr/>
        </p:nvSpPr>
        <p:spPr>
          <a:xfrm>
            <a:off x="8302752" y="4818888"/>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7" name="Text 45"/>
          <p:cNvSpPr/>
          <p:nvPr/>
        </p:nvSpPr>
        <p:spPr>
          <a:xfrm>
            <a:off x="8915400" y="4782312"/>
            <a:ext cx="2606040" cy="365760"/>
          </a:xfrm>
          <a:prstGeom prst="rect">
            <a:avLst/>
          </a:prstGeom>
          <a:noFill/>
          <a:ln/>
        </p:spPr>
        <p:txBody>
          <a:bodyPr wrap="square" lIns="0" tIns="0" rIns="0" bIns="0" rtlCol="0" anchor="ctr"/>
          <a:lstStyle/>
          <a:p>
            <a:pPr indent="0" marL="0">
              <a:buNone/>
            </a:pPr>
            <a:r>
              <a:rPr lang="en-US" sz="1400" b="1" dirty="0">
                <a:solidFill>
                  <a:srgbClr val="21295C"/>
                </a:solidFill>
                <a:latin typeface="Cambria" pitchFamily="34" charset="0"/>
                <a:ea typeface="Cambria" pitchFamily="34" charset="-122"/>
                <a:cs typeface="Cambria" pitchFamily="34" charset="-120"/>
              </a:rPr>
              <a:t>Deal strength</a:t>
            </a:r>
            <a:endParaRPr lang="en-US" sz="1400" dirty="0"/>
          </a:p>
        </p:txBody>
      </p:sp>
      <p:sp>
        <p:nvSpPr>
          <p:cNvPr id="48" name="Text 46"/>
          <p:cNvSpPr/>
          <p:nvPr/>
        </p:nvSpPr>
        <p:spPr>
          <a:xfrm>
            <a:off x="8915400" y="5157216"/>
            <a:ext cx="2606040" cy="749808"/>
          </a:xfrm>
          <a:prstGeom prst="rect">
            <a:avLst/>
          </a:prstGeom>
          <a:noFill/>
          <a:ln/>
        </p:spPr>
        <p:txBody>
          <a:bodyPr wrap="square" lIns="0" tIns="0" rIns="0" bIns="0" rtlCol="0" anchor="ctr"/>
          <a:lstStyle/>
          <a:p>
            <a:pPr indent="0" marL="0">
              <a:buNone/>
            </a:pPr>
            <a:r>
              <a:rPr lang="en-US" sz="1000" dirty="0">
                <a:solidFill>
                  <a:srgbClr val="1A2B3C"/>
                </a:solidFill>
                <a:latin typeface="Calibri" pitchFamily="34" charset="0"/>
                <a:ea typeface="Calibri" pitchFamily="34" charset="-122"/>
                <a:cs typeface="Calibri" pitchFamily="34" charset="-120"/>
              </a:rPr>
              <a:t>Promo depth vs typical pricing ($200 Jet Set July is live now)</a:t>
            </a:r>
            <a:endParaRPr lang="en-US" sz="1000" dirty="0"/>
          </a:p>
        </p:txBody>
      </p:sp>
      <p:sp>
        <p:nvSpPr>
          <p:cNvPr id="49" name="Text 47"/>
          <p:cNvSpPr/>
          <p:nvPr/>
        </p:nvSpPr>
        <p:spPr>
          <a:xfrm>
            <a:off x="548640" y="6263640"/>
            <a:ext cx="5486400" cy="320040"/>
          </a:xfrm>
          <a:prstGeom prst="rect">
            <a:avLst/>
          </a:prstGeom>
          <a:noFill/>
          <a:ln/>
        </p:spPr>
        <p:txBody>
          <a:bodyPr wrap="square" lIns="0" tIns="0" rIns="0" bIns="0" rtlCol="0" anchor="ctr"/>
          <a:lstStyle/>
          <a:p>
            <a:pPr indent="0" marL="0">
              <a:buNone/>
            </a:pPr>
            <a:r>
              <a:rPr lang="en-US" sz="1100" i="1" dirty="0">
                <a:solidFill>
                  <a:srgbClr val="6B7A8A"/>
                </a:solidFill>
                <a:latin typeface="Calibri" pitchFamily="34" charset="0"/>
                <a:ea typeface="Calibri" pitchFamily="34" charset="-122"/>
                <a:cs typeface="Calibri" pitchFamily="34" charset="-120"/>
              </a:rPr>
              <a:t>Circle = weight out of 100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You said the dates could slip to the 11th — they shouldn't</a:t>
            </a:r>
            <a:endParaRPr lang="en-US" sz="3400" dirty="0"/>
          </a:p>
        </p:txBody>
      </p:sp>
      <p:sp>
        <p:nvSpPr>
          <p:cNvPr id="3" name="Text 1"/>
          <p:cNvSpPr/>
          <p:nvPr/>
        </p:nvSpPr>
        <p:spPr>
          <a:xfrm>
            <a:off x="548640" y="1051560"/>
            <a:ext cx="11064240" cy="411480"/>
          </a:xfrm>
          <a:prstGeom prst="rect">
            <a:avLst/>
          </a:prstGeom>
          <a:noFill/>
          <a:ln/>
        </p:spPr>
        <p:txBody>
          <a:bodyPr wrap="square" lIns="0" tIns="0" rIns="0" bIns="0" rtlCol="0" anchor="ctr"/>
          <a:lstStyle/>
          <a:p>
            <a:pPr indent="0" marL="0">
              <a:buNone/>
            </a:pPr>
            <a:r>
              <a:rPr lang="en-US" sz="1400" i="1" dirty="0">
                <a:solidFill>
                  <a:srgbClr val="6B7A8A"/>
                </a:solidFill>
                <a:latin typeface="Calibri" pitchFamily="34" charset="0"/>
                <a:ea typeface="Calibri" pitchFamily="34" charset="-122"/>
                <a:cs typeface="Calibri" pitchFamily="34" charset="-120"/>
              </a:rPr>
              <a:t>Live check of every allowed start date (7 nights each), per-person package price, Cancun markers: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114800"/>
                <a:gridCol w="1737360"/>
                <a:gridCol w="1737360"/>
                <a:gridCol w="1737360"/>
                <a:gridCol w="1737360"/>
              </a:tblGrid>
              <a:tr h="50292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Resort</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Sat Aug 8</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1C729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Sun Aug 9</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Mon Aug 10</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Tue Aug 11</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r>
              <a:tr h="502920">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Riu Latino (adults-only)</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$1,206</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$1,307</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$1,274</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$1,241</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502920">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Secrets The Vine (adults-only)</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$1,462</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$1,561</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$1,472</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502920">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Hotel Marina El Cid</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$1,257</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$1,235</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400" dirty="0">
                          <a:solidFill>
                            <a:srgbClr val="1A2B3C"/>
                          </a:solidFill>
                          <a:latin typeface="Calibri" pitchFamily="34" charset="0"/>
                          <a:ea typeface="Calibri" pitchFamily="34" charset="-122"/>
                          <a:cs typeface="Calibri" pitchFamily="34" charset="-120"/>
                        </a:rPr>
                        <a:t>$1,213</a:t>
                      </a:r>
                      <a:endParaRPr lang="en-US" sz="140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bl>
          </a:graphicData>
        </a:graphic>
      </p:graphicFrame>
      <p:sp>
        <p:nvSpPr>
          <p:cNvPr id="5" name="Shape 2"/>
          <p:cNvSpPr/>
          <p:nvPr/>
        </p:nvSpPr>
        <p:spPr>
          <a:xfrm>
            <a:off x="548640" y="4023360"/>
            <a:ext cx="11064240" cy="1371600"/>
          </a:xfrm>
          <a:prstGeom prst="roundRect">
            <a:avLst>
              <a:gd name="adj" fmla="val 8000"/>
            </a:avLst>
          </a:prstGeom>
          <a:solidFill>
            <a:srgbClr val="E6F7F1"/>
          </a:solidFill>
          <a:ln/>
        </p:spPr>
      </p:sp>
      <p:sp>
        <p:nvSpPr>
          <p:cNvPr id="6" name="Text 3"/>
          <p:cNvSpPr/>
          <p:nvPr/>
        </p:nvSpPr>
        <p:spPr>
          <a:xfrm>
            <a:off x="868680" y="4160520"/>
            <a:ext cx="10424160" cy="1097280"/>
          </a:xfrm>
          <a:prstGeom prst="rect">
            <a:avLst/>
          </a:prstGeom>
          <a:noFill/>
          <a:ln/>
        </p:spPr>
        <p:txBody>
          <a:bodyPr wrap="square" lIns="0" tIns="0" rIns="0" bIns="0" rtlCol="0" anchor="ctr"/>
          <a:lstStyle/>
          <a:p>
            <a:pPr indent="0" marL="0">
              <a:buNone/>
            </a:pPr>
            <a:r>
              <a:rPr lang="en-US" sz="1600" b="1" dirty="0">
                <a:solidFill>
                  <a:srgbClr val="0B7A5C"/>
                </a:solidFill>
                <a:latin typeface="Calibri" pitchFamily="34" charset="0"/>
                <a:ea typeface="Calibri" pitchFamily="34" charset="-122"/>
                <a:cs typeface="Calibri" pitchFamily="34" charset="-120"/>
              </a:rPr>
              <a:t>Keep Saturday Aug 8 → Sat Aug 15.  </a:t>
            </a:r>
            <a:pPr indent="0" marL="0">
              <a:buNone/>
            </a:pPr>
            <a:r>
              <a:rPr lang="en-US" sz="1600" dirty="0">
                <a:solidFill>
                  <a:srgbClr val="1A2B3C"/>
                </a:solidFill>
                <a:latin typeface="Calibri" pitchFamily="34" charset="0"/>
                <a:ea typeface="Calibri" pitchFamily="34" charset="-122"/>
                <a:cs typeface="Calibri" pitchFamily="34" charset="-120"/>
              </a:rPr>
              <a:t>Your original start was the cheapest in every single case — slipping later costs $35–100 per person. Saturday nonstops from DTW are also the most reliable.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What the deep research changed</a:t>
            </a:r>
            <a:endParaRPr lang="en-US" sz="3400" dirty="0"/>
          </a:p>
        </p:txBody>
      </p:sp>
      <p:sp>
        <p:nvSpPr>
          <p:cNvPr id="3" name="Text 1"/>
          <p:cNvSpPr/>
          <p:nvPr/>
        </p:nvSpPr>
        <p:spPr>
          <a:xfrm>
            <a:off x="548640" y="1005840"/>
            <a:ext cx="11064240" cy="457200"/>
          </a:xfrm>
          <a:prstGeom prst="rect">
            <a:avLst/>
          </a:prstGeom>
          <a:noFill/>
          <a:ln/>
        </p:spPr>
        <p:txBody>
          <a:bodyPr wrap="square" lIns="0" tIns="0" rIns="0" bIns="0" rtlCol="0" anchor="ctr"/>
          <a:lstStyle/>
          <a:p>
            <a:pPr indent="0" marL="0">
              <a:buNone/>
            </a:pPr>
            <a:r>
              <a:rPr lang="en-US" sz="1300" i="1" dirty="0">
                <a:solidFill>
                  <a:srgbClr val="6B7A8A"/>
                </a:solidFill>
                <a:latin typeface="Calibri" pitchFamily="34" charset="0"/>
                <a:ea typeface="Calibri" pitchFamily="34" charset="-122"/>
                <a:cs typeface="Calibri" pitchFamily="34" charset="-120"/>
              </a:rPr>
              <a:t>USF sargassum bulletins, CSU/NOAA hurricane forecasts, and live beach reports — compiled 2026-07-17. Full table in the Conditions tab of the Excel.</a:t>
            </a:r>
            <a:endParaRPr lang="en-US" sz="1300" dirty="0"/>
          </a:p>
        </p:txBody>
      </p:sp>
      <p:sp>
        <p:nvSpPr>
          <p:cNvPr id="4" name="Shape 2"/>
          <p:cNvSpPr/>
          <p:nvPr/>
        </p:nvSpPr>
        <p:spPr>
          <a:xfrm>
            <a:off x="548640" y="1600200"/>
            <a:ext cx="11064240" cy="1325880"/>
          </a:xfrm>
          <a:prstGeom prst="roundRect">
            <a:avLst>
              <a:gd name="adj" fmla="val 8276"/>
            </a:avLst>
          </a:prstGeom>
          <a:solidFill>
            <a:srgbClr val="F4EFE6"/>
          </a:solidFill>
          <a:ln/>
        </p:spPr>
      </p:sp>
      <p:sp>
        <p:nvSpPr>
          <p:cNvPr id="5" name="Shape 3"/>
          <p:cNvSpPr/>
          <p:nvPr/>
        </p:nvSpPr>
        <p:spPr>
          <a:xfrm>
            <a:off x="822960" y="1984248"/>
            <a:ext cx="548640" cy="548640"/>
          </a:xfrm>
          <a:prstGeom prst="ellipse">
            <a:avLst/>
          </a:prstGeom>
          <a:solidFill>
            <a:srgbClr val="F96167"/>
          </a:solidFill>
          <a:ln/>
        </p:spPr>
      </p:sp>
      <p:sp>
        <p:nvSpPr>
          <p:cNvPr id="6" name="Text 4"/>
          <p:cNvSpPr/>
          <p:nvPr/>
        </p:nvSpPr>
        <p:spPr>
          <a:xfrm>
            <a:off x="822960" y="19842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645920" y="1737360"/>
            <a:ext cx="9692640"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Seaweed is the story of 2026</a:t>
            </a:r>
            <a:endParaRPr lang="en-US" sz="1700" dirty="0"/>
          </a:p>
        </p:txBody>
      </p:sp>
      <p:sp>
        <p:nvSpPr>
          <p:cNvPr id="8" name="Text 6"/>
          <p:cNvSpPr/>
          <p:nvPr/>
        </p:nvSpPr>
        <p:spPr>
          <a:xfrm>
            <a:off x="1645920" y="2148840"/>
            <a:ext cx="9692640" cy="731520"/>
          </a:xfrm>
          <a:prstGeom prst="rect">
            <a:avLst/>
          </a:prstGeom>
          <a:noFill/>
          <a:ln/>
        </p:spPr>
        <p:txBody>
          <a:bodyPr wrap="square" lIns="0" tIns="0" rIns="0" bIns="0" rtlCol="0" anchor="ctr"/>
          <a:lstStyle/>
          <a:p>
            <a:pPr indent="0" marL="0">
              <a:buNone/>
            </a:pPr>
            <a:r>
              <a:rPr lang="en-US" sz="1250" dirty="0">
                <a:solidFill>
                  <a:srgbClr val="1A2B3C"/>
                </a:solidFill>
                <a:latin typeface="Calibri" pitchFamily="34" charset="0"/>
                <a:ea typeface="Calibri" pitchFamily="34" charset="-122"/>
                <a:cs typeface="Calibri" pitchFamily="34" charset="-120"/>
              </a:rPr>
              <a:t>2nd-worst sargassum year on record (33.6M tons). Cancun Hotel Zone and Punta Cana/Bávaro — our old #1 and #3 — are in the August strike zone. Clarity scores slashed.</a:t>
            </a:r>
            <a:endParaRPr lang="en-US" sz="1250" dirty="0"/>
          </a:p>
        </p:txBody>
      </p:sp>
      <p:sp>
        <p:nvSpPr>
          <p:cNvPr id="9" name="Shape 7"/>
          <p:cNvSpPr/>
          <p:nvPr/>
        </p:nvSpPr>
        <p:spPr>
          <a:xfrm>
            <a:off x="548640" y="3108960"/>
            <a:ext cx="11064240" cy="1325880"/>
          </a:xfrm>
          <a:prstGeom prst="roundRect">
            <a:avLst>
              <a:gd name="adj" fmla="val 8276"/>
            </a:avLst>
          </a:prstGeom>
          <a:solidFill>
            <a:srgbClr val="F4EFE6"/>
          </a:solidFill>
          <a:ln/>
        </p:spPr>
      </p:sp>
      <p:sp>
        <p:nvSpPr>
          <p:cNvPr id="10" name="Shape 8"/>
          <p:cNvSpPr/>
          <p:nvPr/>
        </p:nvSpPr>
        <p:spPr>
          <a:xfrm>
            <a:off x="822960" y="3493008"/>
            <a:ext cx="548640" cy="548640"/>
          </a:xfrm>
          <a:prstGeom prst="ellipse">
            <a:avLst/>
          </a:prstGeom>
          <a:solidFill>
            <a:srgbClr val="02C39A"/>
          </a:solidFill>
          <a:ln/>
        </p:spPr>
      </p:sp>
      <p:sp>
        <p:nvSpPr>
          <p:cNvPr id="11" name="Text 9"/>
          <p:cNvSpPr/>
          <p:nvPr/>
        </p:nvSpPr>
        <p:spPr>
          <a:xfrm>
            <a:off x="822960" y="349300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1645920" y="3246120"/>
            <a:ext cx="9692640"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Geography is the cheat code</a:t>
            </a:r>
            <a:endParaRPr lang="en-US" sz="1700" dirty="0"/>
          </a:p>
        </p:txBody>
      </p:sp>
      <p:sp>
        <p:nvSpPr>
          <p:cNvPr id="13" name="Text 11"/>
          <p:cNvSpPr/>
          <p:nvPr/>
        </p:nvSpPr>
        <p:spPr>
          <a:xfrm>
            <a:off x="1645920" y="3657600"/>
            <a:ext cx="9692640" cy="731520"/>
          </a:xfrm>
          <a:prstGeom prst="rect">
            <a:avLst/>
          </a:prstGeom>
          <a:noFill/>
          <a:ln/>
        </p:spPr>
        <p:txBody>
          <a:bodyPr wrap="square" lIns="0" tIns="0" rIns="0" bIns="0" rtlCol="0" anchor="ctr"/>
          <a:lstStyle/>
          <a:p>
            <a:pPr indent="0" marL="0">
              <a:buNone/>
            </a:pPr>
            <a:r>
              <a:rPr lang="en-US" sz="1250" dirty="0">
                <a:solidFill>
                  <a:srgbClr val="1A2B3C"/>
                </a:solidFill>
                <a:latin typeface="Calibri" pitchFamily="34" charset="0"/>
                <a:ea typeface="Calibri" pitchFamily="34" charset="-122"/>
                <a:cs typeface="Calibri" pitchFamily="34" charset="-120"/>
              </a:rPr>
              <a:t>West-facing coasts dodge it: Cozumel west, Negril, Costa Mujeres, Grand Cayman, Grace Bay. Aruba sits outside the belt entirely — zero seaweed, zero hurricanes since 1851.</a:t>
            </a:r>
            <a:endParaRPr lang="en-US" sz="1250" dirty="0"/>
          </a:p>
        </p:txBody>
      </p:sp>
      <p:sp>
        <p:nvSpPr>
          <p:cNvPr id="14" name="Shape 12"/>
          <p:cNvSpPr/>
          <p:nvPr/>
        </p:nvSpPr>
        <p:spPr>
          <a:xfrm>
            <a:off x="548640" y="4617720"/>
            <a:ext cx="11064240" cy="1325880"/>
          </a:xfrm>
          <a:prstGeom prst="roundRect">
            <a:avLst>
              <a:gd name="adj" fmla="val 8276"/>
            </a:avLst>
          </a:prstGeom>
          <a:solidFill>
            <a:srgbClr val="F4EFE6"/>
          </a:solidFill>
          <a:ln/>
        </p:spPr>
      </p:sp>
      <p:sp>
        <p:nvSpPr>
          <p:cNvPr id="15" name="Shape 13"/>
          <p:cNvSpPr/>
          <p:nvPr/>
        </p:nvSpPr>
        <p:spPr>
          <a:xfrm>
            <a:off x="822960" y="5001768"/>
            <a:ext cx="548640" cy="548640"/>
          </a:xfrm>
          <a:prstGeom prst="ellipse">
            <a:avLst/>
          </a:prstGeom>
          <a:solidFill>
            <a:srgbClr val="1C7293"/>
          </a:solidFill>
          <a:ln/>
        </p:spPr>
      </p:sp>
      <p:sp>
        <p:nvSpPr>
          <p:cNvPr id="16" name="Text 14"/>
          <p:cNvSpPr/>
          <p:nvPr/>
        </p:nvSpPr>
        <p:spPr>
          <a:xfrm>
            <a:off x="822960" y="500176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1645920" y="4754880"/>
            <a:ext cx="9692640"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Hurricane risk is unusually low</a:t>
            </a:r>
            <a:endParaRPr lang="en-US" sz="1700" dirty="0"/>
          </a:p>
        </p:txBody>
      </p:sp>
      <p:sp>
        <p:nvSpPr>
          <p:cNvPr id="18" name="Text 16"/>
          <p:cNvSpPr/>
          <p:nvPr/>
        </p:nvSpPr>
        <p:spPr>
          <a:xfrm>
            <a:off x="1645920" y="5166360"/>
            <a:ext cx="9692640" cy="731520"/>
          </a:xfrm>
          <a:prstGeom prst="rect">
            <a:avLst/>
          </a:prstGeom>
          <a:noFill/>
          <a:ln/>
        </p:spPr>
        <p:txBody>
          <a:bodyPr wrap="square" lIns="0" tIns="0" rIns="0" bIns="0" rtlCol="0" anchor="ctr"/>
          <a:lstStyle/>
          <a:p>
            <a:pPr indent="0" marL="0">
              <a:buNone/>
            </a:pPr>
            <a:r>
              <a:rPr lang="en-US" sz="1250" dirty="0">
                <a:solidFill>
                  <a:srgbClr val="1A2B3C"/>
                </a:solidFill>
                <a:latin typeface="Calibri" pitchFamily="34" charset="0"/>
                <a:ea typeface="Calibri" pitchFamily="34" charset="-122"/>
                <a:cs typeface="Calibri" pitchFamily="34" charset="-120"/>
              </a:rPr>
              <a:t>El Niño has CSU forecasting the quietest season since 2014 (9 storms vs 14 avg), and Aug 8–15 is before the seasonal ramp anyway. Green light for the belt islands this week.</a:t>
            </a:r>
            <a:endParaRPr lang="en-US" sz="1250" dirty="0"/>
          </a:p>
        </p:txBody>
      </p:sp>
      <p:sp>
        <p:nvSpPr>
          <p:cNvPr id="19" name="Text 17"/>
          <p:cNvSpPr/>
          <p:nvPr/>
        </p:nvSpPr>
        <p:spPr>
          <a:xfrm>
            <a:off x="548640" y="6263640"/>
            <a:ext cx="11064240" cy="365760"/>
          </a:xfrm>
          <a:prstGeom prst="rect">
            <a:avLst/>
          </a:prstGeom>
          <a:noFill/>
          <a:ln/>
        </p:spPr>
        <p:txBody>
          <a:bodyPr wrap="square" lIns="0" tIns="0" rIns="0" bIns="0" rtlCol="0" anchor="ctr"/>
          <a:lstStyle/>
          <a:p>
            <a:pPr indent="0" marL="0">
              <a:buNone/>
            </a:pPr>
            <a:r>
              <a:rPr lang="en-US" sz="1200" b="1" i="1" dirty="0">
                <a:solidFill>
                  <a:srgbClr val="065A82"/>
                </a:solidFill>
                <a:latin typeface="Calibri" pitchFamily="34" charset="0"/>
                <a:ea typeface="Calibri" pitchFamily="34" charset="-122"/>
                <a:cs typeface="Calibri" pitchFamily="34" charset="-120"/>
              </a:rPr>
              <a:t>New 10th criterion added: “Aug conditions risk” (weight 10) — sargassum + hurricane exposure + rain.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The leaderboard</a:t>
            </a:r>
            <a:endParaRPr lang="en-US" sz="3400" dirty="0"/>
          </a:p>
        </p:txBody>
      </p:sp>
      <p:sp>
        <p:nvSpPr>
          <p:cNvPr id="3" name="Text 1"/>
          <p:cNvSpPr/>
          <p:nvPr/>
        </p:nvSpPr>
        <p:spPr>
          <a:xfrm>
            <a:off x="548640" y="1005840"/>
            <a:ext cx="10972800" cy="365760"/>
          </a:xfrm>
          <a:prstGeom prst="rect">
            <a:avLst/>
          </a:prstGeom>
          <a:noFill/>
          <a:ln/>
        </p:spPr>
        <p:txBody>
          <a:bodyPr wrap="square" lIns="0" tIns="0" rIns="0" bIns="0" rtlCol="0" anchor="ctr"/>
          <a:lstStyle/>
          <a:p>
            <a:pPr indent="0" marL="0">
              <a:buNone/>
            </a:pPr>
            <a:r>
              <a:rPr lang="en-US" sz="1400" i="1" dirty="0">
                <a:solidFill>
                  <a:srgbClr val="6B7A8A"/>
                </a:solidFill>
                <a:latin typeface="Calibri" pitchFamily="34" charset="0"/>
                <a:ea typeface="Calibri" pitchFamily="34" charset="-122"/>
                <a:cs typeface="Calibri" pitchFamily="34" charset="-120"/>
              </a:rPr>
              <a:t>Weighted score out of 10 — full 12-option grid lives in VacationScorecard.xlsx</a:t>
            </a:r>
            <a:endParaRPr lang="en-US" sz="1400" dirty="0"/>
          </a:p>
        </p:txBody>
      </p:sp>
      <p:sp>
        <p:nvSpPr>
          <p:cNvPr id="4" name="Shape 2"/>
          <p:cNvSpPr/>
          <p:nvPr/>
        </p:nvSpPr>
        <p:spPr>
          <a:xfrm>
            <a:off x="548640" y="1554480"/>
            <a:ext cx="11064240" cy="804672"/>
          </a:xfrm>
          <a:prstGeom prst="roundRect">
            <a:avLst>
              <a:gd name="adj" fmla="val 11364"/>
            </a:avLst>
          </a:prstGeom>
          <a:solidFill>
            <a:srgbClr val="21295C"/>
          </a:solidFill>
          <a:ln/>
        </p:spPr>
      </p:sp>
      <p:sp>
        <p:nvSpPr>
          <p:cNvPr id="5" name="Shape 3"/>
          <p:cNvSpPr/>
          <p:nvPr/>
        </p:nvSpPr>
        <p:spPr>
          <a:xfrm>
            <a:off x="777240" y="1691640"/>
            <a:ext cx="530352" cy="530352"/>
          </a:xfrm>
          <a:prstGeom prst="ellipse">
            <a:avLst/>
          </a:prstGeom>
          <a:solidFill>
            <a:srgbClr val="02C39A"/>
          </a:solidFill>
          <a:ln/>
        </p:spPr>
      </p:sp>
      <p:sp>
        <p:nvSpPr>
          <p:cNvPr id="6" name="Text 4"/>
          <p:cNvSpPr/>
          <p:nvPr/>
        </p:nvSpPr>
        <p:spPr>
          <a:xfrm>
            <a:off x="777240" y="1691640"/>
            <a:ext cx="530352" cy="530352"/>
          </a:xfrm>
          <a:prstGeom prst="rect">
            <a:avLst/>
          </a:prstGeom>
          <a:noFill/>
          <a:ln/>
        </p:spPr>
        <p:txBody>
          <a:bodyPr wrap="square" lIns="0" tIns="0" rIns="0" bIns="0" rtlCol="0" anchor="ctr"/>
          <a:lstStyle/>
          <a:p>
            <a:pPr algn="ctr" indent="0" marL="0">
              <a:buNone/>
            </a:pPr>
            <a:r>
              <a:rPr lang="en-US" sz="1800" b="1" dirty="0">
                <a:solidFill>
                  <a:srgbClr val="21295C"/>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554480" y="1645920"/>
            <a:ext cx="4206240" cy="384048"/>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Riu Latino</a:t>
            </a:r>
            <a:endParaRPr lang="en-US" sz="1800" dirty="0"/>
          </a:p>
        </p:txBody>
      </p:sp>
      <p:sp>
        <p:nvSpPr>
          <p:cNvPr id="8" name="Text 6"/>
          <p:cNvSpPr/>
          <p:nvPr/>
        </p:nvSpPr>
        <p:spPr>
          <a:xfrm>
            <a:off x="1554480" y="2011680"/>
            <a:ext cx="4206240" cy="292608"/>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Costa Mujeres · adults-only · seaweed-light</a:t>
            </a:r>
            <a:endParaRPr lang="en-US" sz="1100" dirty="0"/>
          </a:p>
        </p:txBody>
      </p:sp>
      <p:sp>
        <p:nvSpPr>
          <p:cNvPr id="9" name="Text 7"/>
          <p:cNvSpPr/>
          <p:nvPr/>
        </p:nvSpPr>
        <p:spPr>
          <a:xfrm>
            <a:off x="6035040" y="1554480"/>
            <a:ext cx="2834640" cy="80467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$2,412  total for 2</a:t>
            </a:r>
            <a:endParaRPr lang="en-US" sz="1600" dirty="0"/>
          </a:p>
        </p:txBody>
      </p:sp>
      <p:sp>
        <p:nvSpPr>
          <p:cNvPr id="10" name="Text 8"/>
          <p:cNvSpPr/>
          <p:nvPr/>
        </p:nvSpPr>
        <p:spPr>
          <a:xfrm>
            <a:off x="9509760" y="1554480"/>
            <a:ext cx="1737360" cy="804672"/>
          </a:xfrm>
          <a:prstGeom prst="rect">
            <a:avLst/>
          </a:prstGeom>
          <a:noFill/>
          <a:ln/>
        </p:spPr>
        <p:txBody>
          <a:bodyPr wrap="square" lIns="0" tIns="0" rIns="0" bIns="0" rtlCol="0" anchor="ctr"/>
          <a:lstStyle/>
          <a:p>
            <a:pPr algn="r" indent="0" marL="0">
              <a:buNone/>
            </a:pPr>
            <a:r>
              <a:rPr lang="en-US" sz="2600" b="1" dirty="0">
                <a:solidFill>
                  <a:srgbClr val="02C39A"/>
                </a:solidFill>
                <a:latin typeface="Cambria" pitchFamily="34" charset="0"/>
                <a:ea typeface="Cambria" pitchFamily="34" charset="-122"/>
                <a:cs typeface="Cambria" pitchFamily="34" charset="-120"/>
              </a:rPr>
              <a:t>7.90</a:t>
            </a:r>
            <a:endParaRPr lang="en-US" sz="2600" dirty="0"/>
          </a:p>
        </p:txBody>
      </p:sp>
      <p:sp>
        <p:nvSpPr>
          <p:cNvPr id="11" name="Shape 9"/>
          <p:cNvSpPr/>
          <p:nvPr/>
        </p:nvSpPr>
        <p:spPr>
          <a:xfrm>
            <a:off x="548640" y="2487168"/>
            <a:ext cx="11064240" cy="804672"/>
          </a:xfrm>
          <a:prstGeom prst="roundRect">
            <a:avLst>
              <a:gd name="adj" fmla="val 11364"/>
            </a:avLst>
          </a:prstGeom>
          <a:solidFill>
            <a:srgbClr val="F4EFE6"/>
          </a:solidFill>
          <a:ln/>
        </p:spPr>
      </p:sp>
      <p:sp>
        <p:nvSpPr>
          <p:cNvPr id="12" name="Shape 10"/>
          <p:cNvSpPr/>
          <p:nvPr/>
        </p:nvSpPr>
        <p:spPr>
          <a:xfrm>
            <a:off x="777240" y="2624328"/>
            <a:ext cx="530352" cy="530352"/>
          </a:xfrm>
          <a:prstGeom prst="ellipse">
            <a:avLst/>
          </a:prstGeom>
          <a:solidFill>
            <a:srgbClr val="065A82"/>
          </a:solidFill>
          <a:ln/>
        </p:spPr>
      </p:sp>
      <p:sp>
        <p:nvSpPr>
          <p:cNvPr id="13" name="Text 11"/>
          <p:cNvSpPr/>
          <p:nvPr/>
        </p:nvSpPr>
        <p:spPr>
          <a:xfrm>
            <a:off x="777240" y="2624328"/>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4" name="Text 12"/>
          <p:cNvSpPr/>
          <p:nvPr/>
        </p:nvSpPr>
        <p:spPr>
          <a:xfrm>
            <a:off x="1554480" y="2578608"/>
            <a:ext cx="4206240" cy="384048"/>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Secrets Aura Cozumel</a:t>
            </a:r>
            <a:endParaRPr lang="en-US" sz="1800" dirty="0"/>
          </a:p>
        </p:txBody>
      </p:sp>
      <p:sp>
        <p:nvSpPr>
          <p:cNvPr id="15" name="Text 13"/>
          <p:cNvSpPr/>
          <p:nvPr/>
        </p:nvSpPr>
        <p:spPr>
          <a:xfrm>
            <a:off x="1554480" y="2944368"/>
            <a:ext cx="4206240" cy="292608"/>
          </a:xfrm>
          <a:prstGeom prst="rect">
            <a:avLst/>
          </a:prstGeom>
          <a:noFill/>
          <a:ln/>
        </p:spPr>
        <p:txBody>
          <a:bodyPr wrap="square" lIns="0" tIns="0" rIns="0" bIns="0" rtlCol="0" anchor="ctr"/>
          <a:lstStyle/>
          <a:p>
            <a:pPr indent="0" marL="0">
              <a:buNone/>
            </a:pPr>
            <a:r>
              <a:rPr lang="en-US" sz="1100" dirty="0">
                <a:solidFill>
                  <a:srgbClr val="6B7A8A"/>
                </a:solidFill>
                <a:latin typeface="Calibri" pitchFamily="34" charset="0"/>
                <a:ea typeface="Calibri" pitchFamily="34" charset="-122"/>
                <a:cs typeface="Calibri" pitchFamily="34" charset="-120"/>
              </a:rPr>
              <a:t>Cozumel west · adults-only 5★ · dive-clear</a:t>
            </a:r>
            <a:endParaRPr lang="en-US" sz="1100" dirty="0"/>
          </a:p>
        </p:txBody>
      </p:sp>
      <p:sp>
        <p:nvSpPr>
          <p:cNvPr id="16" name="Text 14"/>
          <p:cNvSpPr/>
          <p:nvPr/>
        </p:nvSpPr>
        <p:spPr>
          <a:xfrm>
            <a:off x="6035040" y="2487168"/>
            <a:ext cx="2834640" cy="804672"/>
          </a:xfrm>
          <a:prstGeom prst="rect">
            <a:avLst/>
          </a:prstGeom>
          <a:noFill/>
          <a:ln/>
        </p:spPr>
        <p:txBody>
          <a:bodyPr wrap="square" lIns="0" tIns="0" rIns="0" bIns="0" rtlCol="0" anchor="ctr"/>
          <a:lstStyle/>
          <a:p>
            <a:pPr indent="0" marL="0">
              <a:buNone/>
            </a:pPr>
            <a:r>
              <a:rPr lang="en-US" sz="1600" dirty="0">
                <a:solidFill>
                  <a:srgbClr val="1A2B3C"/>
                </a:solidFill>
                <a:latin typeface="Calibri" pitchFamily="34" charset="0"/>
                <a:ea typeface="Calibri" pitchFamily="34" charset="-122"/>
                <a:cs typeface="Calibri" pitchFamily="34" charset="-120"/>
              </a:rPr>
              <a:t>$3,568  total for 2</a:t>
            </a:r>
            <a:endParaRPr lang="en-US" sz="1600" dirty="0"/>
          </a:p>
        </p:txBody>
      </p:sp>
      <p:sp>
        <p:nvSpPr>
          <p:cNvPr id="17" name="Text 15"/>
          <p:cNvSpPr/>
          <p:nvPr/>
        </p:nvSpPr>
        <p:spPr>
          <a:xfrm>
            <a:off x="9509760" y="2487168"/>
            <a:ext cx="1737360" cy="804672"/>
          </a:xfrm>
          <a:prstGeom prst="rect">
            <a:avLst/>
          </a:prstGeom>
          <a:noFill/>
          <a:ln/>
        </p:spPr>
        <p:txBody>
          <a:bodyPr wrap="square" lIns="0" tIns="0" rIns="0" bIns="0" rtlCol="0" anchor="ctr"/>
          <a:lstStyle/>
          <a:p>
            <a:pPr algn="r" indent="0" marL="0">
              <a:buNone/>
            </a:pPr>
            <a:r>
              <a:rPr lang="en-US" sz="2600" b="1" dirty="0">
                <a:solidFill>
                  <a:srgbClr val="1C7293"/>
                </a:solidFill>
                <a:latin typeface="Cambria" pitchFamily="34" charset="0"/>
                <a:ea typeface="Cambria" pitchFamily="34" charset="-122"/>
                <a:cs typeface="Cambria" pitchFamily="34" charset="-120"/>
              </a:rPr>
              <a:t>7.45</a:t>
            </a:r>
            <a:endParaRPr lang="en-US" sz="2600" dirty="0"/>
          </a:p>
        </p:txBody>
      </p:sp>
      <p:sp>
        <p:nvSpPr>
          <p:cNvPr id="18" name="Shape 16"/>
          <p:cNvSpPr/>
          <p:nvPr/>
        </p:nvSpPr>
        <p:spPr>
          <a:xfrm>
            <a:off x="548640" y="3419856"/>
            <a:ext cx="11064240" cy="804672"/>
          </a:xfrm>
          <a:prstGeom prst="roundRect">
            <a:avLst>
              <a:gd name="adj" fmla="val 11364"/>
            </a:avLst>
          </a:prstGeom>
          <a:solidFill>
            <a:srgbClr val="F4EFE6"/>
          </a:solidFill>
          <a:ln/>
        </p:spPr>
      </p:sp>
      <p:sp>
        <p:nvSpPr>
          <p:cNvPr id="19" name="Shape 17"/>
          <p:cNvSpPr/>
          <p:nvPr/>
        </p:nvSpPr>
        <p:spPr>
          <a:xfrm>
            <a:off x="777240" y="3557016"/>
            <a:ext cx="530352" cy="530352"/>
          </a:xfrm>
          <a:prstGeom prst="ellipse">
            <a:avLst/>
          </a:prstGeom>
          <a:solidFill>
            <a:srgbClr val="065A82"/>
          </a:solidFill>
          <a:ln/>
        </p:spPr>
      </p:sp>
      <p:sp>
        <p:nvSpPr>
          <p:cNvPr id="20" name="Text 18"/>
          <p:cNvSpPr/>
          <p:nvPr/>
        </p:nvSpPr>
        <p:spPr>
          <a:xfrm>
            <a:off x="777240" y="3557016"/>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554480" y="3511296"/>
            <a:ext cx="4206240" cy="384048"/>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Secrets The Vine</a:t>
            </a:r>
            <a:endParaRPr lang="en-US" sz="1800" dirty="0"/>
          </a:p>
        </p:txBody>
      </p:sp>
      <p:sp>
        <p:nvSpPr>
          <p:cNvPr id="22" name="Text 20"/>
          <p:cNvSpPr/>
          <p:nvPr/>
        </p:nvSpPr>
        <p:spPr>
          <a:xfrm>
            <a:off x="1554480" y="3877056"/>
            <a:ext cx="4206240" cy="292608"/>
          </a:xfrm>
          <a:prstGeom prst="rect">
            <a:avLst/>
          </a:prstGeom>
          <a:noFill/>
          <a:ln/>
        </p:spPr>
        <p:txBody>
          <a:bodyPr wrap="square" lIns="0" tIns="0" rIns="0" bIns="0" rtlCol="0" anchor="ctr"/>
          <a:lstStyle/>
          <a:p>
            <a:pPr indent="0" marL="0">
              <a:buNone/>
            </a:pPr>
            <a:r>
              <a:rPr lang="en-US" sz="1100" dirty="0">
                <a:solidFill>
                  <a:srgbClr val="6B7A8A"/>
                </a:solidFill>
                <a:latin typeface="Calibri" pitchFamily="34" charset="0"/>
                <a:ea typeface="Calibri" pitchFamily="34" charset="-122"/>
                <a:cs typeface="Calibri" pitchFamily="34" charset="-120"/>
              </a:rPr>
              <a:t>Cancun Hotel Zone · sargassum-docked</a:t>
            </a:r>
            <a:endParaRPr lang="en-US" sz="1100" dirty="0"/>
          </a:p>
        </p:txBody>
      </p:sp>
      <p:sp>
        <p:nvSpPr>
          <p:cNvPr id="23" name="Text 21"/>
          <p:cNvSpPr/>
          <p:nvPr/>
        </p:nvSpPr>
        <p:spPr>
          <a:xfrm>
            <a:off x="6035040" y="3419856"/>
            <a:ext cx="2834640" cy="804672"/>
          </a:xfrm>
          <a:prstGeom prst="rect">
            <a:avLst/>
          </a:prstGeom>
          <a:noFill/>
          <a:ln/>
        </p:spPr>
        <p:txBody>
          <a:bodyPr wrap="square" lIns="0" tIns="0" rIns="0" bIns="0" rtlCol="0" anchor="ctr"/>
          <a:lstStyle/>
          <a:p>
            <a:pPr indent="0" marL="0">
              <a:buNone/>
            </a:pPr>
            <a:r>
              <a:rPr lang="en-US" sz="1600" dirty="0">
                <a:solidFill>
                  <a:srgbClr val="1A2B3C"/>
                </a:solidFill>
                <a:latin typeface="Calibri" pitchFamily="34" charset="0"/>
                <a:ea typeface="Calibri" pitchFamily="34" charset="-122"/>
                <a:cs typeface="Calibri" pitchFamily="34" charset="-120"/>
              </a:rPr>
              <a:t>$2,924  total for 2</a:t>
            </a:r>
            <a:endParaRPr lang="en-US" sz="1600" dirty="0"/>
          </a:p>
        </p:txBody>
      </p:sp>
      <p:sp>
        <p:nvSpPr>
          <p:cNvPr id="24" name="Text 22"/>
          <p:cNvSpPr/>
          <p:nvPr/>
        </p:nvSpPr>
        <p:spPr>
          <a:xfrm>
            <a:off x="9509760" y="3419856"/>
            <a:ext cx="1737360" cy="804672"/>
          </a:xfrm>
          <a:prstGeom prst="rect">
            <a:avLst/>
          </a:prstGeom>
          <a:noFill/>
          <a:ln/>
        </p:spPr>
        <p:txBody>
          <a:bodyPr wrap="square" lIns="0" tIns="0" rIns="0" bIns="0" rtlCol="0" anchor="ctr"/>
          <a:lstStyle/>
          <a:p>
            <a:pPr algn="r" indent="0" marL="0">
              <a:buNone/>
            </a:pPr>
            <a:r>
              <a:rPr lang="en-US" sz="2600" b="1" dirty="0">
                <a:solidFill>
                  <a:srgbClr val="1C7293"/>
                </a:solidFill>
                <a:latin typeface="Cambria" pitchFamily="34" charset="0"/>
                <a:ea typeface="Cambria" pitchFamily="34" charset="-122"/>
                <a:cs typeface="Cambria" pitchFamily="34" charset="-120"/>
              </a:rPr>
              <a:t>7.34</a:t>
            </a:r>
            <a:endParaRPr lang="en-US" sz="2600" dirty="0"/>
          </a:p>
        </p:txBody>
      </p:sp>
      <p:sp>
        <p:nvSpPr>
          <p:cNvPr id="25" name="Shape 23"/>
          <p:cNvSpPr/>
          <p:nvPr/>
        </p:nvSpPr>
        <p:spPr>
          <a:xfrm>
            <a:off x="548640" y="4352544"/>
            <a:ext cx="11064240" cy="804672"/>
          </a:xfrm>
          <a:prstGeom prst="roundRect">
            <a:avLst>
              <a:gd name="adj" fmla="val 11364"/>
            </a:avLst>
          </a:prstGeom>
          <a:solidFill>
            <a:srgbClr val="F4EFE6"/>
          </a:solidFill>
          <a:ln/>
        </p:spPr>
      </p:sp>
      <p:sp>
        <p:nvSpPr>
          <p:cNvPr id="26" name="Shape 24"/>
          <p:cNvSpPr/>
          <p:nvPr/>
        </p:nvSpPr>
        <p:spPr>
          <a:xfrm>
            <a:off x="777240" y="4489704"/>
            <a:ext cx="530352" cy="530352"/>
          </a:xfrm>
          <a:prstGeom prst="ellipse">
            <a:avLst/>
          </a:prstGeom>
          <a:solidFill>
            <a:srgbClr val="065A82"/>
          </a:solidFill>
          <a:ln/>
        </p:spPr>
      </p:sp>
      <p:sp>
        <p:nvSpPr>
          <p:cNvPr id="27" name="Text 25"/>
          <p:cNvSpPr/>
          <p:nvPr/>
        </p:nvSpPr>
        <p:spPr>
          <a:xfrm>
            <a:off x="777240" y="4489704"/>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8" name="Text 26"/>
          <p:cNvSpPr/>
          <p:nvPr/>
        </p:nvSpPr>
        <p:spPr>
          <a:xfrm>
            <a:off x="1554480" y="4443984"/>
            <a:ext cx="4206240" cy="384048"/>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Catalonia Riviera Maya</a:t>
            </a:r>
            <a:endParaRPr lang="en-US" sz="1800" dirty="0"/>
          </a:p>
        </p:txBody>
      </p:sp>
      <p:sp>
        <p:nvSpPr>
          <p:cNvPr id="29" name="Text 27"/>
          <p:cNvSpPr/>
          <p:nvPr/>
        </p:nvSpPr>
        <p:spPr>
          <a:xfrm>
            <a:off x="1554480" y="4809744"/>
            <a:ext cx="4206240" cy="292608"/>
          </a:xfrm>
          <a:prstGeom prst="rect">
            <a:avLst/>
          </a:prstGeom>
          <a:noFill/>
          <a:ln/>
        </p:spPr>
        <p:txBody>
          <a:bodyPr wrap="square" lIns="0" tIns="0" rIns="0" bIns="0" rtlCol="0" anchor="ctr"/>
          <a:lstStyle/>
          <a:p>
            <a:pPr indent="0" marL="0">
              <a:buNone/>
            </a:pPr>
            <a:r>
              <a:rPr lang="en-US" sz="1100" dirty="0">
                <a:solidFill>
                  <a:srgbClr val="6B7A8A"/>
                </a:solidFill>
                <a:latin typeface="Calibri" pitchFamily="34" charset="0"/>
                <a:ea typeface="Calibri" pitchFamily="34" charset="-122"/>
                <a:cs typeface="Calibri" pitchFamily="34" charset="-120"/>
              </a:rPr>
              <a:t>Riviera Maya · 5★ cheapest</a:t>
            </a:r>
            <a:endParaRPr lang="en-US" sz="1100" dirty="0"/>
          </a:p>
        </p:txBody>
      </p:sp>
      <p:sp>
        <p:nvSpPr>
          <p:cNvPr id="30" name="Text 28"/>
          <p:cNvSpPr/>
          <p:nvPr/>
        </p:nvSpPr>
        <p:spPr>
          <a:xfrm>
            <a:off x="6035040" y="4352544"/>
            <a:ext cx="2834640" cy="804672"/>
          </a:xfrm>
          <a:prstGeom prst="rect">
            <a:avLst/>
          </a:prstGeom>
          <a:noFill/>
          <a:ln/>
        </p:spPr>
        <p:txBody>
          <a:bodyPr wrap="square" lIns="0" tIns="0" rIns="0" bIns="0" rtlCol="0" anchor="ctr"/>
          <a:lstStyle/>
          <a:p>
            <a:pPr indent="0" marL="0">
              <a:buNone/>
            </a:pPr>
            <a:r>
              <a:rPr lang="en-US" sz="1600" dirty="0">
                <a:solidFill>
                  <a:srgbClr val="1A2B3C"/>
                </a:solidFill>
                <a:latin typeface="Calibri" pitchFamily="34" charset="0"/>
                <a:ea typeface="Calibri" pitchFamily="34" charset="-122"/>
                <a:cs typeface="Calibri" pitchFamily="34" charset="-120"/>
              </a:rPr>
              <a:t>$2,144  total for 2</a:t>
            </a:r>
            <a:endParaRPr lang="en-US" sz="1600" dirty="0"/>
          </a:p>
        </p:txBody>
      </p:sp>
      <p:sp>
        <p:nvSpPr>
          <p:cNvPr id="31" name="Text 29"/>
          <p:cNvSpPr/>
          <p:nvPr/>
        </p:nvSpPr>
        <p:spPr>
          <a:xfrm>
            <a:off x="9509760" y="4352544"/>
            <a:ext cx="1737360" cy="804672"/>
          </a:xfrm>
          <a:prstGeom prst="rect">
            <a:avLst/>
          </a:prstGeom>
          <a:noFill/>
          <a:ln/>
        </p:spPr>
        <p:txBody>
          <a:bodyPr wrap="square" lIns="0" tIns="0" rIns="0" bIns="0" rtlCol="0" anchor="ctr"/>
          <a:lstStyle/>
          <a:p>
            <a:pPr algn="r" indent="0" marL="0">
              <a:buNone/>
            </a:pPr>
            <a:r>
              <a:rPr lang="en-US" sz="2600" b="1" dirty="0">
                <a:solidFill>
                  <a:srgbClr val="1C7293"/>
                </a:solidFill>
                <a:latin typeface="Cambria" pitchFamily="34" charset="0"/>
                <a:ea typeface="Cambria" pitchFamily="34" charset="-122"/>
                <a:cs typeface="Cambria" pitchFamily="34" charset="-120"/>
              </a:rPr>
              <a:t>7.30</a:t>
            </a:r>
            <a:endParaRPr lang="en-US" sz="2600" dirty="0"/>
          </a:p>
        </p:txBody>
      </p:sp>
      <p:sp>
        <p:nvSpPr>
          <p:cNvPr id="32" name="Shape 30"/>
          <p:cNvSpPr/>
          <p:nvPr/>
        </p:nvSpPr>
        <p:spPr>
          <a:xfrm>
            <a:off x="548640" y="5285232"/>
            <a:ext cx="11064240" cy="804672"/>
          </a:xfrm>
          <a:prstGeom prst="roundRect">
            <a:avLst>
              <a:gd name="adj" fmla="val 11364"/>
            </a:avLst>
          </a:prstGeom>
          <a:solidFill>
            <a:srgbClr val="F4EFE6"/>
          </a:solidFill>
          <a:ln/>
        </p:spPr>
      </p:sp>
      <p:sp>
        <p:nvSpPr>
          <p:cNvPr id="33" name="Shape 31"/>
          <p:cNvSpPr/>
          <p:nvPr/>
        </p:nvSpPr>
        <p:spPr>
          <a:xfrm>
            <a:off x="777240" y="5422392"/>
            <a:ext cx="530352" cy="530352"/>
          </a:xfrm>
          <a:prstGeom prst="ellipse">
            <a:avLst/>
          </a:prstGeom>
          <a:solidFill>
            <a:srgbClr val="065A82"/>
          </a:solidFill>
          <a:ln/>
        </p:spPr>
      </p:sp>
      <p:sp>
        <p:nvSpPr>
          <p:cNvPr id="34" name="Text 32"/>
          <p:cNvSpPr/>
          <p:nvPr/>
        </p:nvSpPr>
        <p:spPr>
          <a:xfrm>
            <a:off x="777240" y="542239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35" name="Text 33"/>
          <p:cNvSpPr/>
          <p:nvPr/>
        </p:nvSpPr>
        <p:spPr>
          <a:xfrm>
            <a:off x="1554480" y="5376672"/>
            <a:ext cx="4206240" cy="384048"/>
          </a:xfrm>
          <a:prstGeom prst="rect">
            <a:avLst/>
          </a:prstGeom>
          <a:noFill/>
          <a:ln/>
        </p:spPr>
        <p:txBody>
          <a:bodyPr wrap="square" lIns="0" tIns="0" rIns="0" bIns="0" rtlCol="0" anchor="ctr"/>
          <a:lstStyle/>
          <a:p>
            <a:pPr indent="0" marL="0">
              <a:buNone/>
            </a:pPr>
            <a:r>
              <a:rPr lang="en-US" sz="1800" b="1" dirty="0">
                <a:solidFill>
                  <a:srgbClr val="21295C"/>
                </a:solidFill>
                <a:latin typeface="Cambria" pitchFamily="34" charset="0"/>
                <a:ea typeface="Cambria" pitchFamily="34" charset="-122"/>
                <a:cs typeface="Cambria" pitchFamily="34" charset="-120"/>
              </a:rPr>
              <a:t>Marina El Cid</a:t>
            </a:r>
            <a:endParaRPr lang="en-US" sz="1800" dirty="0"/>
          </a:p>
        </p:txBody>
      </p:sp>
      <p:sp>
        <p:nvSpPr>
          <p:cNvPr id="36" name="Text 34"/>
          <p:cNvSpPr/>
          <p:nvPr/>
        </p:nvSpPr>
        <p:spPr>
          <a:xfrm>
            <a:off x="1554480" y="5742432"/>
            <a:ext cx="4206240" cy="292608"/>
          </a:xfrm>
          <a:prstGeom prst="rect">
            <a:avLst/>
          </a:prstGeom>
          <a:noFill/>
          <a:ln/>
        </p:spPr>
        <p:txBody>
          <a:bodyPr wrap="square" lIns="0" tIns="0" rIns="0" bIns="0" rtlCol="0" anchor="ctr"/>
          <a:lstStyle/>
          <a:p>
            <a:pPr indent="0" marL="0">
              <a:buNone/>
            </a:pPr>
            <a:r>
              <a:rPr lang="en-US" sz="1100" dirty="0">
                <a:solidFill>
                  <a:srgbClr val="6B7A8A"/>
                </a:solidFill>
                <a:latin typeface="Calibri" pitchFamily="34" charset="0"/>
                <a:ea typeface="Calibri" pitchFamily="34" charset="-122"/>
                <a:cs typeface="Calibri" pitchFamily="34" charset="-120"/>
              </a:rPr>
              <a:t>Puerto Morelos · 4.5★</a:t>
            </a:r>
            <a:endParaRPr lang="en-US" sz="1100" dirty="0"/>
          </a:p>
        </p:txBody>
      </p:sp>
      <p:sp>
        <p:nvSpPr>
          <p:cNvPr id="37" name="Text 35"/>
          <p:cNvSpPr/>
          <p:nvPr/>
        </p:nvSpPr>
        <p:spPr>
          <a:xfrm>
            <a:off x="6035040" y="5285232"/>
            <a:ext cx="2834640" cy="804672"/>
          </a:xfrm>
          <a:prstGeom prst="rect">
            <a:avLst/>
          </a:prstGeom>
          <a:noFill/>
          <a:ln/>
        </p:spPr>
        <p:txBody>
          <a:bodyPr wrap="square" lIns="0" tIns="0" rIns="0" bIns="0" rtlCol="0" anchor="ctr"/>
          <a:lstStyle/>
          <a:p>
            <a:pPr indent="0" marL="0">
              <a:buNone/>
            </a:pPr>
            <a:r>
              <a:rPr lang="en-US" sz="1600" dirty="0">
                <a:solidFill>
                  <a:srgbClr val="1A2B3C"/>
                </a:solidFill>
                <a:latin typeface="Calibri" pitchFamily="34" charset="0"/>
                <a:ea typeface="Calibri" pitchFamily="34" charset="-122"/>
                <a:cs typeface="Calibri" pitchFamily="34" charset="-120"/>
              </a:rPr>
              <a:t>$2,310  total for 2</a:t>
            </a:r>
            <a:endParaRPr lang="en-US" sz="1600" dirty="0"/>
          </a:p>
        </p:txBody>
      </p:sp>
      <p:sp>
        <p:nvSpPr>
          <p:cNvPr id="38" name="Text 36"/>
          <p:cNvSpPr/>
          <p:nvPr/>
        </p:nvSpPr>
        <p:spPr>
          <a:xfrm>
            <a:off x="9509760" y="5285232"/>
            <a:ext cx="1737360" cy="804672"/>
          </a:xfrm>
          <a:prstGeom prst="rect">
            <a:avLst/>
          </a:prstGeom>
          <a:noFill/>
          <a:ln/>
        </p:spPr>
        <p:txBody>
          <a:bodyPr wrap="square" lIns="0" tIns="0" rIns="0" bIns="0" rtlCol="0" anchor="ctr"/>
          <a:lstStyle/>
          <a:p>
            <a:pPr algn="r" indent="0" marL="0">
              <a:buNone/>
            </a:pPr>
            <a:r>
              <a:rPr lang="en-US" sz="2600" b="1" dirty="0">
                <a:solidFill>
                  <a:srgbClr val="1C7293"/>
                </a:solidFill>
                <a:latin typeface="Cambria" pitchFamily="34" charset="0"/>
                <a:ea typeface="Cambria" pitchFamily="34" charset="-122"/>
                <a:cs typeface="Cambria" pitchFamily="34" charset="-120"/>
              </a:rPr>
              <a:t>7.25</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Two ways to win</a:t>
            </a:r>
            <a:endParaRPr lang="en-US" sz="3400" dirty="0"/>
          </a:p>
        </p:txBody>
      </p:sp>
      <p:sp>
        <p:nvSpPr>
          <p:cNvPr id="3" name="Shape 1"/>
          <p:cNvSpPr/>
          <p:nvPr/>
        </p:nvSpPr>
        <p:spPr>
          <a:xfrm>
            <a:off x="548640" y="1371600"/>
            <a:ext cx="5440680" cy="4937760"/>
          </a:xfrm>
          <a:prstGeom prst="roundRect">
            <a:avLst>
              <a:gd name="adj" fmla="val 2593"/>
            </a:avLst>
          </a:prstGeom>
          <a:solidFill>
            <a:srgbClr val="21295C"/>
          </a:solidFill>
          <a:ln/>
        </p:spPr>
      </p:sp>
      <p:sp>
        <p:nvSpPr>
          <p:cNvPr id="4" name="Text 2"/>
          <p:cNvSpPr/>
          <p:nvPr/>
        </p:nvSpPr>
        <p:spPr>
          <a:xfrm>
            <a:off x="914400" y="1691640"/>
            <a:ext cx="4709160" cy="320040"/>
          </a:xfrm>
          <a:prstGeom prst="rect">
            <a:avLst/>
          </a:prstGeom>
          <a:noFill/>
          <a:ln/>
        </p:spPr>
        <p:txBody>
          <a:bodyPr wrap="square" lIns="0" tIns="0" rIns="0" bIns="0"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THE ALL-ROUND WINNER</a:t>
            </a:r>
            <a:endParaRPr lang="en-US" sz="1200" dirty="0"/>
          </a:p>
        </p:txBody>
      </p:sp>
      <p:sp>
        <p:nvSpPr>
          <p:cNvPr id="5" name="Text 3"/>
          <p:cNvSpPr/>
          <p:nvPr/>
        </p:nvSpPr>
        <p:spPr>
          <a:xfrm>
            <a:off x="914400" y="2011680"/>
            <a:ext cx="47091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Riu Latino</a:t>
            </a:r>
            <a:endParaRPr lang="en-US" sz="2800" dirty="0"/>
          </a:p>
        </p:txBody>
      </p:sp>
      <p:sp>
        <p:nvSpPr>
          <p:cNvPr id="6" name="Text 4"/>
          <p:cNvSpPr/>
          <p:nvPr/>
        </p:nvSpPr>
        <p:spPr>
          <a:xfrm>
            <a:off x="914400" y="2743200"/>
            <a:ext cx="4709160" cy="2377440"/>
          </a:xfrm>
          <a:prstGeom prst="rect">
            <a:avLst/>
          </a:prstGeom>
          <a:noFill/>
          <a:ln/>
        </p:spPr>
        <p:txBody>
          <a:bodyPr wrap="square" lIns="0" tIns="0" rIns="0" bIns="0" rtlCol="0" anchor="ctr"/>
          <a:lstStyle/>
          <a:p>
            <a:pPr marL="177800" indent="-1778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Adults-only, opened 2024 — newest resort on the list</a:t>
            </a:r>
            <a:endParaRPr lang="en-US" sz="1300" dirty="0"/>
          </a:p>
          <a:p>
            <a:pPr marL="177800" indent="-1778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Costa Mujeres faces NW: light seaweed even in a record year</a:t>
            </a:r>
            <a:endParaRPr lang="en-US" sz="1300" dirty="0"/>
          </a:p>
          <a:p>
            <a:pPr marL="177800" indent="-1778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Cheapest adults-only option anywhere — $2,412 all-in</a:t>
            </a:r>
            <a:endParaRPr lang="en-US" sz="1300" dirty="0"/>
          </a:p>
          <a:p>
            <a:pPr marL="177800" indent="-1778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3h45 NONSTOP from DTW · Aug 8 start confirmed cheapest</a:t>
            </a:r>
            <a:endParaRPr lang="en-US" sz="1300" dirty="0"/>
          </a:p>
        </p:txBody>
      </p:sp>
      <p:sp>
        <p:nvSpPr>
          <p:cNvPr id="7" name="Shape 5"/>
          <p:cNvSpPr/>
          <p:nvPr/>
        </p:nvSpPr>
        <p:spPr>
          <a:xfrm>
            <a:off x="914400" y="5349240"/>
            <a:ext cx="4709160" cy="685800"/>
          </a:xfrm>
          <a:prstGeom prst="roundRect">
            <a:avLst>
              <a:gd name="adj" fmla="val 13333"/>
            </a:avLst>
          </a:prstGeom>
          <a:solidFill>
            <a:srgbClr val="02C39A"/>
          </a:solidFill>
          <a:ln/>
        </p:spPr>
      </p:sp>
      <p:sp>
        <p:nvSpPr>
          <p:cNvPr id="8" name="Text 6"/>
          <p:cNvSpPr/>
          <p:nvPr/>
        </p:nvSpPr>
        <p:spPr>
          <a:xfrm>
            <a:off x="914400" y="5349240"/>
            <a:ext cx="4709160" cy="685800"/>
          </a:xfrm>
          <a:prstGeom prst="rect">
            <a:avLst/>
          </a:prstGeom>
          <a:noFill/>
          <a:ln/>
        </p:spPr>
        <p:txBody>
          <a:bodyPr wrap="square" lIns="0" tIns="0" rIns="0" bIns="0" rtlCol="0" anchor="ctr"/>
          <a:lstStyle/>
          <a:p>
            <a:pPr algn="ctr" indent="0" marL="0">
              <a:buNone/>
            </a:pPr>
            <a:r>
              <a:rPr lang="en-US" sz="1700" b="1" dirty="0">
                <a:solidFill>
                  <a:srgbClr val="21295C"/>
                </a:solidFill>
                <a:latin typeface="Cambria" pitchFamily="34" charset="0"/>
                <a:ea typeface="Cambria" pitchFamily="34" charset="-122"/>
                <a:cs typeface="Cambria" pitchFamily="34" charset="-120"/>
              </a:rPr>
              <a:t>$2,412 total · score 7.90</a:t>
            </a:r>
            <a:endParaRPr lang="en-US" sz="1700" dirty="0"/>
          </a:p>
        </p:txBody>
      </p:sp>
      <p:sp>
        <p:nvSpPr>
          <p:cNvPr id="9" name="Shape 7"/>
          <p:cNvSpPr/>
          <p:nvPr/>
        </p:nvSpPr>
        <p:spPr>
          <a:xfrm>
            <a:off x="6263640" y="1371600"/>
            <a:ext cx="5440680" cy="4937760"/>
          </a:xfrm>
          <a:prstGeom prst="roundRect">
            <a:avLst>
              <a:gd name="adj" fmla="val 2593"/>
            </a:avLst>
          </a:prstGeom>
          <a:solidFill>
            <a:srgbClr val="F4EFE6"/>
          </a:solidFill>
          <a:ln/>
        </p:spPr>
      </p:sp>
      <p:sp>
        <p:nvSpPr>
          <p:cNvPr id="10" name="Text 8"/>
          <p:cNvSpPr/>
          <p:nvPr/>
        </p:nvSpPr>
        <p:spPr>
          <a:xfrm>
            <a:off x="6629400" y="1691640"/>
            <a:ext cx="4709160" cy="320040"/>
          </a:xfrm>
          <a:prstGeom prst="rect">
            <a:avLst/>
          </a:prstGeom>
          <a:noFill/>
          <a:ln/>
        </p:spPr>
        <p:txBody>
          <a:bodyPr wrap="square" lIns="0" tIns="0" rIns="0" bIns="0" rtlCol="0" anchor="ctr"/>
          <a:lstStyle/>
          <a:p>
            <a:pPr indent="0" marL="0">
              <a:buNone/>
            </a:pPr>
            <a:r>
              <a:rPr lang="en-US" sz="1200" b="1" spc="200" kern="0" dirty="0">
                <a:solidFill>
                  <a:srgbClr val="065A82"/>
                </a:solidFill>
                <a:latin typeface="Calibri" pitchFamily="34" charset="0"/>
                <a:ea typeface="Calibri" pitchFamily="34" charset="-122"/>
                <a:cs typeface="Calibri" pitchFamily="34" charset="-120"/>
              </a:rPr>
              <a:t>THE CRYSTAL-WATER PICK</a:t>
            </a:r>
            <a:endParaRPr lang="en-US" sz="1200" dirty="0"/>
          </a:p>
        </p:txBody>
      </p:sp>
      <p:sp>
        <p:nvSpPr>
          <p:cNvPr id="11" name="Text 9"/>
          <p:cNvSpPr/>
          <p:nvPr/>
        </p:nvSpPr>
        <p:spPr>
          <a:xfrm>
            <a:off x="6629400" y="2011680"/>
            <a:ext cx="4709160" cy="548640"/>
          </a:xfrm>
          <a:prstGeom prst="rect">
            <a:avLst/>
          </a:prstGeom>
          <a:noFill/>
          <a:ln/>
        </p:spPr>
        <p:txBody>
          <a:bodyPr wrap="square" lIns="0" tIns="0" rIns="0" bIns="0" rtlCol="0" anchor="ctr"/>
          <a:lstStyle/>
          <a:p>
            <a:pPr indent="0" marL="0">
              <a:buNone/>
            </a:pPr>
            <a:r>
              <a:rPr lang="en-US" sz="2800" b="1" dirty="0">
                <a:solidFill>
                  <a:srgbClr val="21295C"/>
                </a:solidFill>
                <a:latin typeface="Cambria" pitchFamily="34" charset="0"/>
                <a:ea typeface="Cambria" pitchFamily="34" charset="-122"/>
                <a:cs typeface="Cambria" pitchFamily="34" charset="-120"/>
              </a:rPr>
              <a:t>Secrets Aura Cozumel</a:t>
            </a:r>
            <a:endParaRPr lang="en-US" sz="2800" dirty="0"/>
          </a:p>
        </p:txBody>
      </p:sp>
      <p:sp>
        <p:nvSpPr>
          <p:cNvPr id="12" name="Text 10"/>
          <p:cNvSpPr/>
          <p:nvPr/>
        </p:nvSpPr>
        <p:spPr>
          <a:xfrm>
            <a:off x="6629400" y="2743200"/>
            <a:ext cx="4709160" cy="2377440"/>
          </a:xfrm>
          <a:prstGeom prst="rect">
            <a:avLst/>
          </a:prstGeom>
          <a:noFill/>
          <a:ln/>
        </p:spPr>
        <p:txBody>
          <a:bodyPr wrap="square" lIns="0" tIns="0" rIns="0" bIns="0" rtlCol="0" anchor="ctr"/>
          <a:lstStyle/>
          <a:p>
            <a:pPr marL="177800" indent="-177800">
              <a:spcAft>
                <a:spcPts val="800"/>
              </a:spcAft>
              <a:buSzPct val="100000"/>
              <a:buChar char="•"/>
            </a:pPr>
            <a:r>
              <a:rPr lang="en-US" sz="1300" dirty="0">
                <a:solidFill>
                  <a:srgbClr val="21295C"/>
                </a:solidFill>
                <a:latin typeface="Calibri" pitchFamily="34" charset="0"/>
                <a:ea typeface="Calibri" pitchFamily="34" charset="-122"/>
                <a:cs typeface="Calibri" pitchFamily="34" charset="-120"/>
              </a:rPr>
              <a:t>Cozumel west coast: the island physically blocks sargassum</a:t>
            </a:r>
            <a:endParaRPr lang="en-US" sz="1300" dirty="0"/>
          </a:p>
          <a:p>
            <a:pPr marL="177800" indent="-177800">
              <a:spcAft>
                <a:spcPts val="800"/>
              </a:spcAft>
              <a:buSzPct val="100000"/>
              <a:buChar char="•"/>
            </a:pPr>
            <a:r>
              <a:rPr lang="en-US" sz="1300" dirty="0">
                <a:solidFill>
                  <a:srgbClr val="21295C"/>
                </a:solidFill>
                <a:latin typeface="Calibri" pitchFamily="34" charset="0"/>
                <a:ea typeface="Calibri" pitchFamily="34" charset="-122"/>
                <a:cs typeface="Calibri" pitchFamily="34" charset="-120"/>
              </a:rPr>
              <a:t>Dive-grade clarity — the clearest affordable water in Aug 2026</a:t>
            </a:r>
            <a:endParaRPr lang="en-US" sz="1300" dirty="0"/>
          </a:p>
          <a:p>
            <a:pPr marL="177800" indent="-177800">
              <a:spcAft>
                <a:spcPts val="800"/>
              </a:spcAft>
              <a:buSzPct val="100000"/>
              <a:buChar char="•"/>
            </a:pPr>
            <a:r>
              <a:rPr lang="en-US" sz="1300" dirty="0">
                <a:solidFill>
                  <a:srgbClr val="21295C"/>
                </a:solidFill>
                <a:latin typeface="Calibri" pitchFamily="34" charset="0"/>
                <a:ea typeface="Calibri" pitchFamily="34" charset="-122"/>
                <a:cs typeface="Calibri" pitchFamily="34" charset="-120"/>
              </a:rPr>
              <a:t>Adults-only 5★, swim-out suites, 8,024 reviews</a:t>
            </a:r>
            <a:endParaRPr lang="en-US" sz="1300" dirty="0"/>
          </a:p>
          <a:p>
            <a:pPr marL="177800" indent="-177800">
              <a:spcAft>
                <a:spcPts val="800"/>
              </a:spcAft>
              <a:buSzPct val="100000"/>
              <a:buChar char="•"/>
            </a:pPr>
            <a:r>
              <a:rPr lang="en-US" sz="1300" dirty="0">
                <a:solidFill>
                  <a:srgbClr val="21295C"/>
                </a:solidFill>
                <a:latin typeface="Calibri" pitchFamily="34" charset="0"/>
                <a:ea typeface="Calibri" pitchFamily="34" charset="-122"/>
                <a:cs typeface="Calibri" pitchFamily="34" charset="-120"/>
              </a:rPr>
              <a:t>~5.5h with one stop · +$1,156 over Riu Latino</a:t>
            </a:r>
            <a:endParaRPr lang="en-US" sz="1300" dirty="0"/>
          </a:p>
        </p:txBody>
      </p:sp>
      <p:sp>
        <p:nvSpPr>
          <p:cNvPr id="13" name="Shape 11"/>
          <p:cNvSpPr/>
          <p:nvPr/>
        </p:nvSpPr>
        <p:spPr>
          <a:xfrm>
            <a:off x="6629400" y="5349240"/>
            <a:ext cx="4709160" cy="685800"/>
          </a:xfrm>
          <a:prstGeom prst="roundRect">
            <a:avLst>
              <a:gd name="adj" fmla="val 13333"/>
            </a:avLst>
          </a:prstGeom>
          <a:solidFill>
            <a:srgbClr val="065A82"/>
          </a:solidFill>
          <a:ln/>
        </p:spPr>
      </p:sp>
      <p:sp>
        <p:nvSpPr>
          <p:cNvPr id="14" name="Text 12"/>
          <p:cNvSpPr/>
          <p:nvPr/>
        </p:nvSpPr>
        <p:spPr>
          <a:xfrm>
            <a:off x="6629400" y="5349240"/>
            <a:ext cx="47091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$3,568 total · score 7.45</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400" b="1" dirty="0">
                <a:solidFill>
                  <a:srgbClr val="21295C"/>
                </a:solidFill>
                <a:latin typeface="Cambria" pitchFamily="34" charset="0"/>
                <a:ea typeface="Cambria" pitchFamily="34" charset="-122"/>
                <a:cs typeface="Cambria" pitchFamily="34" charset="-120"/>
              </a:rPr>
              <a:t>The full top 10 — all bookable today</a:t>
            </a:r>
            <a:endParaRPr lang="en-US"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640080"/>
                <a:gridCol w="3749040"/>
                <a:gridCol w="3108960"/>
                <a:gridCol w="914400"/>
                <a:gridCol w="1463040"/>
                <a:gridCol w="1188720"/>
              </a:tblGrid>
              <a:tr h="457200">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Resort</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Where</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Total (2)</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Score</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solidFill>
                      <a:srgbClr val="21295C"/>
                    </a:solidFill>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Riu Latino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Costa Mujeres, Cancun</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$2,412</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7.90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Secrets Aura Cozumel 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Cozumel west coast</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$3,568</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7.45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Secrets The Vine 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Cancun Hotel Zone</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$2,924</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7.34</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Catalonia Riviera Maya 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Riviera Maya</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$2,144</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7.30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Hotel Marina El Cid</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Puerto Morelos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$2,310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7.25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Riu Negril</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Negril, Jamaica</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$2,906</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7.23</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Riu Yucatan</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Playa del Carmen</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$2,134</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Riu Palace Paradise Island</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Nassau, Bahamas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$3,716</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7.18</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Dreams Cozumel Cape 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Cozumel west coast</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$3,396</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7.05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r h="457200">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Barceló Bávaro Beach</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l" indent="0" marL="0">
                        <a:buNone/>
                      </a:pPr>
                      <a:r>
                        <a:rPr lang="en-US" sz="1250" dirty="0">
                          <a:solidFill>
                            <a:srgbClr val="1A2B3C"/>
                          </a:solidFill>
                          <a:latin typeface="Calibri" pitchFamily="34" charset="0"/>
                          <a:ea typeface="Calibri" pitchFamily="34" charset="-122"/>
                          <a:cs typeface="Calibri" pitchFamily="34" charset="-120"/>
                        </a:rPr>
                        <a:t>Punta Cana (seaweed!)</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$2,460</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c>
                  <a:txBody>
                    <a:bodyPr/>
                    <a:lstStyle/>
                    <a:p>
                      <a:pPr algn="ctr" indent="0" marL="0">
                        <a:buNone/>
                      </a:pPr>
                      <a:r>
                        <a:rPr lang="en-US" sz="1250" dirty="0">
                          <a:solidFill>
                            <a:srgbClr val="1A2B3C"/>
                          </a:solidFill>
                          <a:latin typeface="Calibri" pitchFamily="34" charset="0"/>
                          <a:ea typeface="Calibri" pitchFamily="34" charset="-122"/>
                          <a:cs typeface="Calibri" pitchFamily="34" charset="-120"/>
                        </a:rPr>
                        <a:t>6.95</a:t>
                      </a:r>
                      <a:endParaRPr lang="en-US" sz="1250" dirty="0">
                        <a:latin typeface="Calibri" charset="0"/>
                        <a:ea typeface="Calibri" charset="0"/>
                        <a:cs typeface="Calibri" charset="0"/>
                      </a:endParaRPr>
                    </a:p>
                  </a:txBody>
                  <a:tcPr marL="91440" marR="91440" marT="45720" marB="45720" anchor="ctr">
                    <a:lnL w="12700" cap="flat" cmpd="sng" algn="ctr">
                      <a:solidFill>
                        <a:srgbClr val="D5DEE6"/>
                      </a:solidFill>
                      <a:prstDash val="solid"/>
                      <a:round/>
                      <a:headEnd type="none" w="med" len="med"/>
                      <a:tailEnd type="none" w="med" len="med"/>
                    </a:lnL>
                    <a:lnR w="12700" cap="flat" cmpd="sng" algn="ctr">
                      <a:solidFill>
                        <a:srgbClr val="D5DEE6"/>
                      </a:solidFill>
                      <a:prstDash val="solid"/>
                      <a:round/>
                      <a:headEnd type="none" w="med" len="med"/>
                      <a:tailEnd type="none" w="med" len="med"/>
                    </a:lnR>
                    <a:lnT w="12700" cap="flat" cmpd="sng" algn="ctr">
                      <a:solidFill>
                        <a:srgbClr val="D5DEE6"/>
                      </a:solidFill>
                      <a:prstDash val="solid"/>
                      <a:round/>
                      <a:headEnd type="none" w="med" len="med"/>
                      <a:tailEnd type="none" w="med" len="med"/>
                    </a:lnT>
                    <a:lnB w="12700" cap="flat" cmpd="sng" algn="ctr">
                      <a:solidFill>
                        <a:srgbClr val="D5DEE6"/>
                      </a:solidFill>
                      <a:prstDash val="solid"/>
                      <a:round/>
                      <a:headEnd type="none" w="med" len="med"/>
                      <a:tailEnd type="none" w="med" len="med"/>
                    </a:lnB>
                  </a:tcPr>
                </a:tc>
              </a:tr>
            </a:tbl>
          </a:graphicData>
        </a:graphic>
      </p:graphicFrame>
      <p:sp>
        <p:nvSpPr>
          <p:cNvPr id="4" name="Text 1"/>
          <p:cNvSpPr/>
          <p:nvPr/>
        </p:nvSpPr>
        <p:spPr>
          <a:xfrm>
            <a:off x="548640" y="6263640"/>
            <a:ext cx="11064240" cy="365760"/>
          </a:xfrm>
          <a:prstGeom prst="rect">
            <a:avLst/>
          </a:prstGeom>
          <a:noFill/>
          <a:ln/>
        </p:spPr>
        <p:txBody>
          <a:bodyPr wrap="square" lIns="0" tIns="0" rIns="0" bIns="0" rtlCol="0" anchor="ctr"/>
          <a:lstStyle/>
          <a:p>
            <a:pPr indent="0" marL="0">
              <a:buNone/>
            </a:pPr>
            <a:r>
              <a:rPr lang="en-US" sz="1050" i="1" dirty="0">
                <a:solidFill>
                  <a:srgbClr val="6B7A8A"/>
                </a:solidFill>
                <a:latin typeface="Calibri" pitchFamily="34" charset="0"/>
                <a:ea typeface="Calibri" pitchFamily="34" charset="-122"/>
                <a:cs typeface="Calibri" pitchFamily="34" charset="-120"/>
              </a:rPr>
              <a:t>Prices: CheapCaribbean, 2026-07-17, flights from DTW + hotel + taxes for 2 adults, Aug 8–15, $200 promo applied. Quotes move — verify at checkout.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1295C"/>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Next steps</a:t>
            </a:r>
            <a:endParaRPr lang="en-US" sz="4000" dirty="0"/>
          </a:p>
        </p:txBody>
      </p:sp>
      <p:sp>
        <p:nvSpPr>
          <p:cNvPr id="3" name="Shape 1"/>
          <p:cNvSpPr/>
          <p:nvPr/>
        </p:nvSpPr>
        <p:spPr>
          <a:xfrm>
            <a:off x="822960" y="1691640"/>
            <a:ext cx="548640" cy="548640"/>
          </a:xfrm>
          <a:prstGeom prst="ellipse">
            <a:avLst/>
          </a:prstGeom>
          <a:solidFill>
            <a:srgbClr val="02C39A"/>
          </a:solidFill>
          <a:ln/>
        </p:spPr>
      </p:sp>
      <p:sp>
        <p:nvSpPr>
          <p:cNvPr id="4" name="Text 2"/>
          <p:cNvSpPr/>
          <p:nvPr/>
        </p:nvSpPr>
        <p:spPr>
          <a:xfrm>
            <a:off x="822960" y="1691640"/>
            <a:ext cx="548640" cy="548640"/>
          </a:xfrm>
          <a:prstGeom prst="rect">
            <a:avLst/>
          </a:prstGeom>
          <a:noFill/>
          <a:ln/>
        </p:spPr>
        <p:txBody>
          <a:bodyPr wrap="square" lIns="0" tIns="0" rIns="0" bIns="0" rtlCol="0" anchor="ctr"/>
          <a:lstStyle/>
          <a:p>
            <a:pPr algn="ctr" indent="0" marL="0">
              <a:buNone/>
            </a:pPr>
            <a:r>
              <a:rPr lang="en-US" sz="2000" b="1" dirty="0">
                <a:solidFill>
                  <a:srgbClr val="21295C"/>
                </a:solidFill>
                <a:latin typeface="Cambria" pitchFamily="34" charset="0"/>
                <a:ea typeface="Cambria" pitchFamily="34" charset="-122"/>
                <a:cs typeface="Cambria" pitchFamily="34" charset="-120"/>
              </a:rPr>
              <a:t>1</a:t>
            </a:r>
            <a:endParaRPr lang="en-US" sz="2000" dirty="0"/>
          </a:p>
        </p:txBody>
      </p:sp>
      <p:sp>
        <p:nvSpPr>
          <p:cNvPr id="5" name="Text 3"/>
          <p:cNvSpPr/>
          <p:nvPr/>
        </p:nvSpPr>
        <p:spPr>
          <a:xfrm>
            <a:off x="1600200" y="1600200"/>
            <a:ext cx="969264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Pick with GF</a:t>
            </a:r>
            <a:endParaRPr lang="en-US" sz="1900" dirty="0"/>
          </a:p>
        </p:txBody>
      </p:sp>
      <p:sp>
        <p:nvSpPr>
          <p:cNvPr id="6" name="Text 4"/>
          <p:cNvSpPr/>
          <p:nvPr/>
        </p:nvSpPr>
        <p:spPr>
          <a:xfrm>
            <a:off x="1600200" y="2011680"/>
            <a:ext cx="9692640" cy="68580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Open VacationScorecard.xlsx together — nudge the yellow weights to match what you two care about and watch the ranking re-sort.</a:t>
            </a:r>
            <a:endParaRPr lang="en-US" sz="1350" dirty="0"/>
          </a:p>
        </p:txBody>
      </p:sp>
      <p:sp>
        <p:nvSpPr>
          <p:cNvPr id="7" name="Shape 5"/>
          <p:cNvSpPr/>
          <p:nvPr/>
        </p:nvSpPr>
        <p:spPr>
          <a:xfrm>
            <a:off x="822960" y="2926080"/>
            <a:ext cx="548640" cy="548640"/>
          </a:xfrm>
          <a:prstGeom prst="ellipse">
            <a:avLst/>
          </a:prstGeom>
          <a:solidFill>
            <a:srgbClr val="02C39A"/>
          </a:solidFill>
          <a:ln/>
        </p:spPr>
      </p:sp>
      <p:sp>
        <p:nvSpPr>
          <p:cNvPr id="8" name="Text 6"/>
          <p:cNvSpPr/>
          <p:nvPr/>
        </p:nvSpPr>
        <p:spPr>
          <a:xfrm>
            <a:off x="822960" y="2926080"/>
            <a:ext cx="548640" cy="548640"/>
          </a:xfrm>
          <a:prstGeom prst="rect">
            <a:avLst/>
          </a:prstGeom>
          <a:noFill/>
          <a:ln/>
        </p:spPr>
        <p:txBody>
          <a:bodyPr wrap="square" lIns="0" tIns="0" rIns="0" bIns="0" rtlCol="0" anchor="ctr"/>
          <a:lstStyle/>
          <a:p>
            <a:pPr algn="ctr" indent="0" marL="0">
              <a:buNone/>
            </a:pPr>
            <a:r>
              <a:rPr lang="en-US" sz="2000" b="1" dirty="0">
                <a:solidFill>
                  <a:srgbClr val="21295C"/>
                </a:solidFill>
                <a:latin typeface="Cambria" pitchFamily="34" charset="0"/>
                <a:ea typeface="Cambria" pitchFamily="34" charset="-122"/>
                <a:cs typeface="Cambria" pitchFamily="34" charset="-120"/>
              </a:rPr>
              <a:t>2</a:t>
            </a:r>
            <a:endParaRPr lang="en-US" sz="2000" dirty="0"/>
          </a:p>
        </p:txBody>
      </p:sp>
      <p:sp>
        <p:nvSpPr>
          <p:cNvPr id="9" name="Text 7"/>
          <p:cNvSpPr/>
          <p:nvPr/>
        </p:nvSpPr>
        <p:spPr>
          <a:xfrm>
            <a:off x="1600200" y="2834640"/>
            <a:ext cx="969264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Watch for 2–3 days</a:t>
            </a:r>
            <a:endParaRPr lang="en-US" sz="1900" dirty="0"/>
          </a:p>
        </p:txBody>
      </p:sp>
      <p:sp>
        <p:nvSpPr>
          <p:cNvPr id="10" name="Text 8"/>
          <p:cNvSpPr/>
          <p:nvPr/>
        </p:nvSpPr>
        <p:spPr>
          <a:xfrm>
            <a:off x="1600200" y="3246120"/>
            <a:ext cx="9692640" cy="68580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Prices get re-checked and logged to the database; August Mexico prices are soft, so a dip below $2,300 on a top-3 pick = book it.</a:t>
            </a:r>
            <a:endParaRPr lang="en-US" sz="1350" dirty="0"/>
          </a:p>
        </p:txBody>
      </p:sp>
      <p:sp>
        <p:nvSpPr>
          <p:cNvPr id="11" name="Shape 9"/>
          <p:cNvSpPr/>
          <p:nvPr/>
        </p:nvSpPr>
        <p:spPr>
          <a:xfrm>
            <a:off x="822960" y="4160520"/>
            <a:ext cx="548640" cy="548640"/>
          </a:xfrm>
          <a:prstGeom prst="ellipse">
            <a:avLst/>
          </a:prstGeom>
          <a:solidFill>
            <a:srgbClr val="02C39A"/>
          </a:solidFill>
          <a:ln/>
        </p:spPr>
      </p:sp>
      <p:sp>
        <p:nvSpPr>
          <p:cNvPr id="12" name="Text 10"/>
          <p:cNvSpPr/>
          <p:nvPr/>
        </p:nvSpPr>
        <p:spPr>
          <a:xfrm>
            <a:off x="822960" y="4160520"/>
            <a:ext cx="548640" cy="548640"/>
          </a:xfrm>
          <a:prstGeom prst="rect">
            <a:avLst/>
          </a:prstGeom>
          <a:noFill/>
          <a:ln/>
        </p:spPr>
        <p:txBody>
          <a:bodyPr wrap="square" lIns="0" tIns="0" rIns="0" bIns="0" rtlCol="0" anchor="ctr"/>
          <a:lstStyle/>
          <a:p>
            <a:pPr algn="ctr" indent="0" marL="0">
              <a:buNone/>
            </a:pPr>
            <a:r>
              <a:rPr lang="en-US" sz="2000" b="1" dirty="0">
                <a:solidFill>
                  <a:srgbClr val="21295C"/>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1600200" y="4069080"/>
            <a:ext cx="9692640"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Book it yourself</a:t>
            </a:r>
            <a:endParaRPr lang="en-US" sz="1900" dirty="0"/>
          </a:p>
        </p:txBody>
      </p:sp>
      <p:sp>
        <p:nvSpPr>
          <p:cNvPr id="14" name="Text 12"/>
          <p:cNvSpPr/>
          <p:nvPr/>
        </p:nvSpPr>
        <p:spPr>
          <a:xfrm>
            <a:off x="1600200" y="4480560"/>
            <a:ext cx="9692640" cy="685800"/>
          </a:xfrm>
          <a:prstGeom prst="rect">
            <a:avLst/>
          </a:prstGeom>
          <a:noFill/>
          <a:ln/>
        </p:spPr>
        <p:txBody>
          <a:bodyPr wrap="square" lIns="0" tIns="0" rIns="0" bIns="0" rtlCol="0" anchor="ctr"/>
          <a:lstStyle/>
          <a:p>
            <a:pPr indent="0" marL="0">
              <a:buNone/>
            </a:pPr>
            <a:r>
              <a:rPr lang="en-US" sz="1350" dirty="0">
                <a:solidFill>
                  <a:srgbClr val="CADCFC"/>
                </a:solidFill>
                <a:latin typeface="Calibri" pitchFamily="34" charset="0"/>
                <a:ea typeface="Calibri" pitchFamily="34" charset="-122"/>
                <a:cs typeface="Calibri" pitchFamily="34" charset="-120"/>
              </a:rPr>
              <a:t>CheapCaribbean → Hotel+Flight → Detroit → Aug 8–15 → 2 adults. $200 promo auto-applies, 24-hr free cancellation. Check the flight it picks before paying.</a:t>
            </a:r>
            <a:endParaRPr lang="en-US" sz="1350" dirty="0"/>
          </a:p>
        </p:txBody>
      </p:sp>
      <p:sp>
        <p:nvSpPr>
          <p:cNvPr id="15" name="Shape 13"/>
          <p:cNvSpPr/>
          <p:nvPr/>
        </p:nvSpPr>
        <p:spPr>
          <a:xfrm>
            <a:off x="822960" y="5486400"/>
            <a:ext cx="10515600" cy="914400"/>
          </a:xfrm>
          <a:prstGeom prst="roundRect">
            <a:avLst>
              <a:gd name="adj" fmla="val 12000"/>
            </a:avLst>
          </a:prstGeom>
          <a:solidFill>
            <a:srgbClr val="173052"/>
          </a:solidFill>
          <a:ln/>
        </p:spPr>
      </p:sp>
      <p:sp>
        <p:nvSpPr>
          <p:cNvPr id="16" name="Text 14"/>
          <p:cNvSpPr/>
          <p:nvPr/>
        </p:nvSpPr>
        <p:spPr>
          <a:xfrm>
            <a:off x="1097280" y="5559552"/>
            <a:ext cx="9966960" cy="777240"/>
          </a:xfrm>
          <a:prstGeom prst="rect">
            <a:avLst/>
          </a:prstGeom>
          <a:noFill/>
          <a:ln/>
        </p:spPr>
        <p:txBody>
          <a:bodyPr wrap="square" lIns="0" tIns="0" rIns="0" bIns="0" rtlCol="0" anchor="ctr"/>
          <a:lstStyle/>
          <a:p>
            <a:pPr indent="0" marL="0">
              <a:buNone/>
            </a:pPr>
            <a:r>
              <a:rPr lang="en-US" sz="1300" b="1" dirty="0">
                <a:solidFill>
                  <a:srgbClr val="02C39A"/>
                </a:solidFill>
                <a:latin typeface="Calibri" pitchFamily="34" charset="0"/>
                <a:ea typeface="Calibri" pitchFamily="34" charset="-122"/>
                <a:cs typeface="Calibri" pitchFamily="34" charset="-120"/>
              </a:rPr>
              <a:t>Everything lives in the repo:  </a:t>
            </a:r>
            <a:pPr indent="0" marL="0">
              <a:buNone/>
            </a:pPr>
            <a:r>
              <a:rPr lang="en-US" sz="1300" dirty="0">
                <a:solidFill>
                  <a:srgbClr val="CADCFC"/>
                </a:solidFill>
                <a:latin typeface="Calibri" pitchFamily="34" charset="0"/>
                <a:ea typeface="Calibri" pitchFamily="34" charset="-122"/>
                <a:cs typeface="Calibri" pitchFamily="34" charset="-120"/>
              </a:rPr>
              <a:t>github.com/rlettsBubs/Vacation — scorecard Excel, this deck, both reports, and FareScout.db with all 61 price observations for trend tracking.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2026-07-17T23:40:59Z</dcterms:created>
  <dcterms:modified xsi:type="dcterms:W3CDTF">2026-07-17T23:40:59Z</dcterms:modified>
</cp:coreProperties>
</file>